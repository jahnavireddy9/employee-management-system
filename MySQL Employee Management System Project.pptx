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8" r:id="rId3"/>
    <p:sldId id="260" r:id="rId4"/>
    <p:sldId id="289" r:id="rId5"/>
    <p:sldId id="262" r:id="rId6"/>
    <p:sldId id="268" r:id="rId7"/>
    <p:sldId id="267" r:id="rId8"/>
    <p:sldId id="290" r:id="rId9"/>
    <p:sldId id="269" r:id="rId10"/>
    <p:sldId id="270" r:id="rId11"/>
    <p:sldId id="271" r:id="rId12"/>
    <p:sldId id="273" r:id="rId13"/>
    <p:sldId id="274" r:id="rId14"/>
    <p:sldId id="275" r:id="rId15"/>
    <p:sldId id="276" r:id="rId16"/>
    <p:sldId id="277" r:id="rId17"/>
    <p:sldId id="272" r:id="rId18"/>
    <p:sldId id="278" r:id="rId19"/>
    <p:sldId id="279" r:id="rId20"/>
    <p:sldId id="280" r:id="rId21"/>
    <p:sldId id="281" r:id="rId22"/>
    <p:sldId id="282" r:id="rId23"/>
    <p:sldId id="291" r:id="rId24"/>
    <p:sldId id="293" r:id="rId25"/>
    <p:sldId id="259" r:id="rId26"/>
  </p:sldIdLst>
  <p:sldSz cx="12192000" cy="6858000"/>
  <p:notesSz cx="6858000" cy="9144000"/>
  <p:embeddedFontLst>
    <p:embeddedFont>
      <p:font typeface="Libre Baskerville" panose="02000000000000000000" pitchFamily="2" charset="0"/>
      <p:regular r:id="rId28"/>
      <p:bold r:id="rId29"/>
      <p: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3CACC59-8157-7BFF-E03D-C43A638094A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8FDA60B-4840-0377-F1EF-EA0F9DC29D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E7F707D0-C03A-C2A9-471E-790060E176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9702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957612F-1316-BBDA-BEB6-81F7715B5CF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6B921D1-8DF3-78F5-48EB-D0F29CBE3A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D76B4536-A45B-3F0A-03B4-594716EFCB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6835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67724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tmp"/><Relationship Id="rId7" Type="http://schemas.openxmlformats.org/officeDocument/2006/relationships/image" Target="../media/image9.tmp"/><Relationship Id="rId2" Type="http://schemas.openxmlformats.org/officeDocument/2006/relationships/image" Target="../media/image4.tmp"/><Relationship Id="rId1" Type="http://schemas.openxmlformats.org/officeDocument/2006/relationships/slideLayout" Target="../slideLayouts/slideLayout2.xml"/><Relationship Id="rId6" Type="http://schemas.openxmlformats.org/officeDocument/2006/relationships/image" Target="../media/image8.tmp"/><Relationship Id="rId5" Type="http://schemas.openxmlformats.org/officeDocument/2006/relationships/image" Target="../media/image7.tmp"/><Relationship Id="rId4" Type="http://schemas.openxmlformats.org/officeDocument/2006/relationships/image" Target="../media/image6.tm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tmp"/><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3.tmp"/><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tmp"/><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tmp"/><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4.tmp"/><Relationship Id="rId2" Type="http://schemas.openxmlformats.org/officeDocument/2006/relationships/image" Target="../media/image43.tmp"/><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tmp"/><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50.tmp"/><Relationship Id="rId2" Type="http://schemas.openxmlformats.org/officeDocument/2006/relationships/image" Target="../media/image49.tmp"/><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58.tmp"/><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59.tmp"/></Relationships>
</file>

<file path=ppt/slides/_rels/slide23.xml.rels><?xml version="1.0" encoding="UTF-8" standalone="yes"?>
<Relationships xmlns="http://schemas.openxmlformats.org/package/2006/relationships"><Relationship Id="rId3" Type="http://schemas.openxmlformats.org/officeDocument/2006/relationships/image" Target="../media/image62.tmp"/><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5987845"/>
          </a:xfrm>
          <a:prstGeom prst="rect">
            <a:avLst/>
          </a:prstGeom>
          <a:noFill/>
          <a:ln>
            <a:noFill/>
          </a:ln>
        </p:spPr>
      </p:pic>
      <p:sp>
        <p:nvSpPr>
          <p:cNvPr id="99" name="Google Shape;99;p1"/>
          <p:cNvSpPr txBox="1"/>
          <p:nvPr/>
        </p:nvSpPr>
        <p:spPr>
          <a:xfrm>
            <a:off x="2472904" y="3717986"/>
            <a:ext cx="7246189"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32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Employee Management System</a:t>
            </a:r>
            <a:endParaRPr sz="24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 name="Google Shape;99;p1">
            <a:extLst>
              <a:ext uri="{FF2B5EF4-FFF2-40B4-BE49-F238E27FC236}">
                <a16:creationId xmlns:a16="http://schemas.microsoft.com/office/drawing/2014/main" id="{B41DBBD3-9C4C-6EDE-EBF9-770BF543A898}"/>
              </a:ext>
            </a:extLst>
          </p:cNvPr>
          <p:cNvSpPr txBox="1"/>
          <p:nvPr/>
        </p:nvSpPr>
        <p:spPr>
          <a:xfrm>
            <a:off x="7236542" y="4971599"/>
            <a:ext cx="3382203" cy="1138733"/>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800"/>
              <a:buFont typeface="Arial"/>
              <a:buNone/>
            </a:pPr>
            <a:r>
              <a:rPr lang="en-IN" sz="2800" b="1" i="0" u="none" strike="noStrike" cap="none" dirty="0">
                <a:solidFill>
                  <a:srgbClr val="000000"/>
                </a:solidFill>
                <a:latin typeface="Times New Roman" panose="02020603050405020304" pitchFamily="18" charset="0"/>
                <a:cs typeface="Times New Roman" panose="02020603050405020304" pitchFamily="18" charset="0"/>
                <a:sym typeface="Arial"/>
              </a:rPr>
              <a:t>Presented By</a:t>
            </a:r>
          </a:p>
          <a:p>
            <a:pPr marL="0" marR="0" lvl="0" indent="0" rtl="0">
              <a:lnSpc>
                <a:spcPct val="100000"/>
              </a:lnSpc>
              <a:spcBef>
                <a:spcPts val="0"/>
              </a:spcBef>
              <a:spcAft>
                <a:spcPts val="0"/>
              </a:spcAft>
              <a:buClr>
                <a:srgbClr val="000000"/>
              </a:buClr>
              <a:buSzPts val="1800"/>
              <a:buFont typeface="Arial"/>
              <a:buNone/>
            </a:pPr>
            <a:r>
              <a:rPr lang="en-IN" sz="2000" i="0" u="none" strike="noStrike" cap="none" dirty="0">
                <a:solidFill>
                  <a:srgbClr val="000000"/>
                </a:solidFill>
                <a:latin typeface="Times New Roman" panose="02020603050405020304" pitchFamily="18" charset="0"/>
                <a:cs typeface="Times New Roman" panose="02020603050405020304" pitchFamily="18" charset="0"/>
                <a:sym typeface="Arial"/>
              </a:rPr>
              <a:t>J.B. Sri Keerthi</a:t>
            </a:r>
          </a:p>
          <a:p>
            <a:pPr marL="0" marR="0" lvl="0" indent="0" rtl="0">
              <a:lnSpc>
                <a:spcPct val="100000"/>
              </a:lnSpc>
              <a:spcBef>
                <a:spcPts val="0"/>
              </a:spcBef>
              <a:spcAft>
                <a:spcPts val="0"/>
              </a:spcAft>
              <a:buClr>
                <a:srgbClr val="000000"/>
              </a:buClr>
              <a:buSzPts val="1800"/>
              <a:buFont typeface="Arial"/>
              <a:buNone/>
            </a:pPr>
            <a:r>
              <a:rPr lang="en-IN" sz="2000" dirty="0">
                <a:latin typeface="Times New Roman" panose="02020603050405020304" pitchFamily="18" charset="0"/>
                <a:cs typeface="Times New Roman" panose="02020603050405020304" pitchFamily="18" charset="0"/>
              </a:rPr>
              <a:t>M. Jahnavi</a:t>
            </a:r>
            <a:endParaRPr lang="en-IN" sz="200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3000" b="1" dirty="0">
                <a:solidFill>
                  <a:srgbClr val="FF0000"/>
                </a:solidFill>
                <a:latin typeface="Times New Roman" panose="02020603050405020304" pitchFamily="18" charset="0"/>
                <a:cs typeface="Times New Roman" panose="02020603050405020304" pitchFamily="18" charset="0"/>
              </a:rPr>
              <a:t>Agenda (This should be the PPT flow)  </a:t>
            </a:r>
            <a:endParaRPr sz="30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 (Key finding overall) </a:t>
            </a:r>
            <a:endParaRPr sz="2400" dirty="0"/>
          </a:p>
          <a:p>
            <a:pPr marL="457200" lvl="0" indent="-431800" algn="l" rtl="0">
              <a:lnSpc>
                <a:spcPct val="90000"/>
              </a:lnSpc>
              <a:spcBef>
                <a:spcPts val="1000"/>
              </a:spcBef>
              <a:spcAft>
                <a:spcPts val="0"/>
              </a:spcAft>
              <a:buSzPts val="2400"/>
              <a:buChar char="•"/>
            </a:pPr>
            <a:r>
              <a:rPr lang="en-IN" sz="2400" b="1" dirty="0"/>
              <a:t>Q&amp;A Slide </a:t>
            </a:r>
            <a:endParaRPr sz="2400" dirty="0"/>
          </a:p>
          <a:p>
            <a:pPr marL="457200" lvl="0" indent="-431800" algn="l" rtl="0">
              <a:lnSpc>
                <a:spcPct val="90000"/>
              </a:lnSpc>
              <a:spcBef>
                <a:spcPts val="1000"/>
              </a:spcBef>
              <a:spcAft>
                <a:spcPts val="0"/>
              </a:spcAft>
              <a:buSzPts val="2400"/>
              <a:buChar char="•"/>
            </a:pPr>
            <a:r>
              <a:rPr lang="en-IN" sz="2400" b="1" dirty="0"/>
              <a:t>Your Experience/Challenges working on SQL – Data Analysis Project.</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EF4F943-8DA9-8AFD-4886-B62CBEEFC8D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60225986-3391-3C21-E593-00773B1C1FAA}"/>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3000" b="1" dirty="0">
                <a:solidFill>
                  <a:srgbClr val="FF0000"/>
                </a:solidFill>
                <a:latin typeface="Times New Roman" panose="02020603050405020304" pitchFamily="18" charset="0"/>
                <a:cs typeface="Times New Roman" panose="02020603050405020304" pitchFamily="18" charset="0"/>
              </a:rPr>
              <a:t>ER Diagram and Schema Explanation</a:t>
            </a:r>
            <a:endParaRPr sz="30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0BCEC4BC-0BA4-02F3-64E8-4BD2BD84A9D8}"/>
              </a:ext>
            </a:extLst>
          </p:cNvPr>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800"/>
              <a:buNone/>
            </a:pPr>
            <a:endParaRPr dirty="0"/>
          </a:p>
        </p:txBody>
      </p:sp>
      <p:pic>
        <p:nvPicPr>
          <p:cNvPr id="6" name="Picture 5" descr="A computer screen shot of a computer">
            <a:extLst>
              <a:ext uri="{FF2B5EF4-FFF2-40B4-BE49-F238E27FC236}">
                <a16:creationId xmlns:a16="http://schemas.microsoft.com/office/drawing/2014/main" id="{9FC0A9B0-C987-35CB-BA11-E855D4D2C81F}"/>
              </a:ext>
            </a:extLst>
          </p:cNvPr>
          <p:cNvPicPr>
            <a:picLocks noChangeAspect="1"/>
          </p:cNvPicPr>
          <p:nvPr/>
        </p:nvPicPr>
        <p:blipFill>
          <a:blip r:embed="rId3"/>
          <a:stretch>
            <a:fillRect/>
          </a:stretch>
        </p:blipFill>
        <p:spPr>
          <a:xfrm>
            <a:off x="634301" y="1493135"/>
            <a:ext cx="9719067" cy="4652028"/>
          </a:xfrm>
          <a:prstGeom prst="rect">
            <a:avLst/>
          </a:prstGeom>
        </p:spPr>
      </p:pic>
    </p:spTree>
    <p:extLst>
      <p:ext uri="{BB962C8B-B14F-4D97-AF65-F5344CB8AC3E}">
        <p14:creationId xmlns:p14="http://schemas.microsoft.com/office/powerpoint/2010/main" val="1236719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9088C0-CC67-5F74-C260-90D4F52C9EA7}"/>
              </a:ext>
            </a:extLst>
          </p:cNvPr>
          <p:cNvPicPr>
            <a:picLocks noChangeAspect="1"/>
          </p:cNvPicPr>
          <p:nvPr/>
        </p:nvPicPr>
        <p:blipFill>
          <a:blip r:embed="rId2"/>
          <a:stretch>
            <a:fillRect/>
          </a:stretch>
        </p:blipFill>
        <p:spPr>
          <a:xfrm>
            <a:off x="503643" y="1760826"/>
            <a:ext cx="5784081" cy="533446"/>
          </a:xfrm>
          <a:prstGeom prst="rect">
            <a:avLst/>
          </a:prstGeom>
        </p:spPr>
      </p:pic>
      <p:pic>
        <p:nvPicPr>
          <p:cNvPr id="6" name="Picture 5">
            <a:extLst>
              <a:ext uri="{FF2B5EF4-FFF2-40B4-BE49-F238E27FC236}">
                <a16:creationId xmlns:a16="http://schemas.microsoft.com/office/drawing/2014/main" id="{477D9B16-E713-D003-CFF9-A3F33F646BB8}"/>
              </a:ext>
            </a:extLst>
          </p:cNvPr>
          <p:cNvPicPr>
            <a:picLocks noChangeAspect="1"/>
          </p:cNvPicPr>
          <p:nvPr/>
        </p:nvPicPr>
        <p:blipFill>
          <a:blip r:embed="rId3"/>
          <a:stretch>
            <a:fillRect/>
          </a:stretch>
        </p:blipFill>
        <p:spPr>
          <a:xfrm>
            <a:off x="500738" y="3910357"/>
            <a:ext cx="4298052" cy="518205"/>
          </a:xfrm>
          <a:prstGeom prst="rect">
            <a:avLst/>
          </a:prstGeom>
        </p:spPr>
      </p:pic>
      <p:pic>
        <p:nvPicPr>
          <p:cNvPr id="8" name="Picture 7">
            <a:extLst>
              <a:ext uri="{FF2B5EF4-FFF2-40B4-BE49-F238E27FC236}">
                <a16:creationId xmlns:a16="http://schemas.microsoft.com/office/drawing/2014/main" id="{2FB61E72-7447-FC5C-006C-3B4495E9341C}"/>
              </a:ext>
            </a:extLst>
          </p:cNvPr>
          <p:cNvPicPr>
            <a:picLocks noChangeAspect="1"/>
          </p:cNvPicPr>
          <p:nvPr/>
        </p:nvPicPr>
        <p:blipFill>
          <a:blip r:embed="rId4"/>
          <a:stretch>
            <a:fillRect/>
          </a:stretch>
        </p:blipFill>
        <p:spPr>
          <a:xfrm>
            <a:off x="503643" y="697290"/>
            <a:ext cx="6348010" cy="533446"/>
          </a:xfrm>
          <a:prstGeom prst="rect">
            <a:avLst/>
          </a:prstGeom>
        </p:spPr>
      </p:pic>
      <p:pic>
        <p:nvPicPr>
          <p:cNvPr id="12" name="Picture 11" descr="A close-up of a date&#10;&#10;AI-generated content may be incorrect.">
            <a:extLst>
              <a:ext uri="{FF2B5EF4-FFF2-40B4-BE49-F238E27FC236}">
                <a16:creationId xmlns:a16="http://schemas.microsoft.com/office/drawing/2014/main" id="{F9DC3ACF-AF03-0B40-AC63-6CCC62C35689}"/>
              </a:ext>
            </a:extLst>
          </p:cNvPr>
          <p:cNvPicPr>
            <a:picLocks noChangeAspect="1"/>
          </p:cNvPicPr>
          <p:nvPr/>
        </p:nvPicPr>
        <p:blipFill>
          <a:blip r:embed="rId5"/>
          <a:stretch>
            <a:fillRect/>
          </a:stretch>
        </p:blipFill>
        <p:spPr>
          <a:xfrm>
            <a:off x="503643" y="2804122"/>
            <a:ext cx="2781541" cy="518205"/>
          </a:xfrm>
          <a:prstGeom prst="rect">
            <a:avLst/>
          </a:prstGeom>
        </p:spPr>
      </p:pic>
      <p:pic>
        <p:nvPicPr>
          <p:cNvPr id="14" name="Picture 13">
            <a:extLst>
              <a:ext uri="{FF2B5EF4-FFF2-40B4-BE49-F238E27FC236}">
                <a16:creationId xmlns:a16="http://schemas.microsoft.com/office/drawing/2014/main" id="{BC52FEE1-3F82-873A-A3C1-D270B6A3A1F6}"/>
              </a:ext>
            </a:extLst>
          </p:cNvPr>
          <p:cNvPicPr>
            <a:picLocks noChangeAspect="1"/>
          </p:cNvPicPr>
          <p:nvPr/>
        </p:nvPicPr>
        <p:blipFill>
          <a:blip r:embed="rId6"/>
          <a:stretch>
            <a:fillRect/>
          </a:stretch>
        </p:blipFill>
        <p:spPr>
          <a:xfrm>
            <a:off x="500738" y="4916161"/>
            <a:ext cx="4961050" cy="541067"/>
          </a:xfrm>
          <a:prstGeom prst="rect">
            <a:avLst/>
          </a:prstGeom>
        </p:spPr>
      </p:pic>
      <p:pic>
        <p:nvPicPr>
          <p:cNvPr id="16" name="Picture 15" descr="A screenshot of a number of numbers&#10;&#10;AI-generated content may be incorrect.">
            <a:extLst>
              <a:ext uri="{FF2B5EF4-FFF2-40B4-BE49-F238E27FC236}">
                <a16:creationId xmlns:a16="http://schemas.microsoft.com/office/drawing/2014/main" id="{631AA982-767D-9125-413F-26E241B6C40C}"/>
              </a:ext>
            </a:extLst>
          </p:cNvPr>
          <p:cNvPicPr>
            <a:picLocks noChangeAspect="1"/>
          </p:cNvPicPr>
          <p:nvPr/>
        </p:nvPicPr>
        <p:blipFill>
          <a:blip r:embed="rId7"/>
          <a:stretch>
            <a:fillRect/>
          </a:stretch>
        </p:blipFill>
        <p:spPr>
          <a:xfrm>
            <a:off x="500738" y="5863810"/>
            <a:ext cx="2956816" cy="510584"/>
          </a:xfrm>
          <a:prstGeom prst="rect">
            <a:avLst/>
          </a:prstGeom>
        </p:spPr>
      </p:pic>
      <p:sp>
        <p:nvSpPr>
          <p:cNvPr id="17" name="Title 1">
            <a:extLst>
              <a:ext uri="{FF2B5EF4-FFF2-40B4-BE49-F238E27FC236}">
                <a16:creationId xmlns:a16="http://schemas.microsoft.com/office/drawing/2014/main" id="{22074A18-F854-ABD3-B1B8-2FD7F11DC785}"/>
              </a:ext>
            </a:extLst>
          </p:cNvPr>
          <p:cNvSpPr txBox="1">
            <a:spLocks/>
          </p:cNvSpPr>
          <p:nvPr/>
        </p:nvSpPr>
        <p:spPr>
          <a:xfrm>
            <a:off x="503643" y="224656"/>
            <a:ext cx="1688690" cy="35263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b="1" dirty="0"/>
              <a:t>Employees Table</a:t>
            </a:r>
          </a:p>
        </p:txBody>
      </p:sp>
      <p:sp>
        <p:nvSpPr>
          <p:cNvPr id="18" name="Title 1">
            <a:extLst>
              <a:ext uri="{FF2B5EF4-FFF2-40B4-BE49-F238E27FC236}">
                <a16:creationId xmlns:a16="http://schemas.microsoft.com/office/drawing/2014/main" id="{FC8E537B-2EB5-BFDD-8EA2-8C22D7ECB905}"/>
              </a:ext>
            </a:extLst>
          </p:cNvPr>
          <p:cNvSpPr txBox="1">
            <a:spLocks/>
          </p:cNvSpPr>
          <p:nvPr/>
        </p:nvSpPr>
        <p:spPr>
          <a:xfrm>
            <a:off x="503643" y="1346831"/>
            <a:ext cx="2105462" cy="35263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b="1" dirty="0"/>
              <a:t>Job Department Table</a:t>
            </a:r>
          </a:p>
        </p:txBody>
      </p:sp>
      <p:sp>
        <p:nvSpPr>
          <p:cNvPr id="19" name="Title 1">
            <a:extLst>
              <a:ext uri="{FF2B5EF4-FFF2-40B4-BE49-F238E27FC236}">
                <a16:creationId xmlns:a16="http://schemas.microsoft.com/office/drawing/2014/main" id="{E4C6CE72-C04F-2DAF-3266-D3AC021EE5C3}"/>
              </a:ext>
            </a:extLst>
          </p:cNvPr>
          <p:cNvSpPr txBox="1">
            <a:spLocks/>
          </p:cNvSpPr>
          <p:nvPr/>
        </p:nvSpPr>
        <p:spPr>
          <a:xfrm>
            <a:off x="503643" y="2351728"/>
            <a:ext cx="2105462" cy="35263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b="1" dirty="0"/>
              <a:t>Leaves Table</a:t>
            </a:r>
          </a:p>
        </p:txBody>
      </p:sp>
      <p:sp>
        <p:nvSpPr>
          <p:cNvPr id="21" name="Title 1">
            <a:extLst>
              <a:ext uri="{FF2B5EF4-FFF2-40B4-BE49-F238E27FC236}">
                <a16:creationId xmlns:a16="http://schemas.microsoft.com/office/drawing/2014/main" id="{21982558-3C28-4BBF-CCE3-7022DC139BC0}"/>
              </a:ext>
            </a:extLst>
          </p:cNvPr>
          <p:cNvSpPr txBox="1">
            <a:spLocks/>
          </p:cNvSpPr>
          <p:nvPr/>
        </p:nvSpPr>
        <p:spPr>
          <a:xfrm>
            <a:off x="503643" y="3440027"/>
            <a:ext cx="2105462" cy="35263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b="1" dirty="0"/>
              <a:t>Qualifications Table</a:t>
            </a:r>
          </a:p>
        </p:txBody>
      </p:sp>
      <p:sp>
        <p:nvSpPr>
          <p:cNvPr id="22" name="Title 1">
            <a:extLst>
              <a:ext uri="{FF2B5EF4-FFF2-40B4-BE49-F238E27FC236}">
                <a16:creationId xmlns:a16="http://schemas.microsoft.com/office/drawing/2014/main" id="{E5BF8795-9E91-DE90-45B0-8ECD0088106F}"/>
              </a:ext>
            </a:extLst>
          </p:cNvPr>
          <p:cNvSpPr txBox="1">
            <a:spLocks/>
          </p:cNvSpPr>
          <p:nvPr/>
        </p:nvSpPr>
        <p:spPr>
          <a:xfrm>
            <a:off x="503643" y="4563531"/>
            <a:ext cx="2105462" cy="35263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b="1" dirty="0"/>
              <a:t>Payroll Table</a:t>
            </a:r>
          </a:p>
        </p:txBody>
      </p:sp>
      <p:sp>
        <p:nvSpPr>
          <p:cNvPr id="23" name="Title 1">
            <a:extLst>
              <a:ext uri="{FF2B5EF4-FFF2-40B4-BE49-F238E27FC236}">
                <a16:creationId xmlns:a16="http://schemas.microsoft.com/office/drawing/2014/main" id="{7B6B2D4D-366C-8000-A619-D328B494D93D}"/>
              </a:ext>
            </a:extLst>
          </p:cNvPr>
          <p:cNvSpPr txBox="1">
            <a:spLocks/>
          </p:cNvSpPr>
          <p:nvPr/>
        </p:nvSpPr>
        <p:spPr>
          <a:xfrm>
            <a:off x="503643" y="5511180"/>
            <a:ext cx="2105462" cy="35263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b="1" dirty="0"/>
              <a:t>Salary Bonus Table</a:t>
            </a:r>
          </a:p>
        </p:txBody>
      </p:sp>
    </p:spTree>
    <p:extLst>
      <p:ext uri="{BB962C8B-B14F-4D97-AF65-F5344CB8AC3E}">
        <p14:creationId xmlns:p14="http://schemas.microsoft.com/office/powerpoint/2010/main" val="3583640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D4FB506-B12D-1070-7786-CDAF15310691}"/>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C5B101E-F135-2601-535D-E6C7D933B3FB}"/>
              </a:ext>
            </a:extLst>
          </p:cNvPr>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3000" b="1" dirty="0">
                <a:solidFill>
                  <a:srgbClr val="FF0000"/>
                </a:solidFill>
                <a:latin typeface="Times New Roman" panose="02020603050405020304" pitchFamily="18" charset="0"/>
                <a:cs typeface="Times New Roman" panose="02020603050405020304" pitchFamily="18" charset="0"/>
              </a:rPr>
              <a:t>Key Analysis Questions</a:t>
            </a:r>
            <a:endParaRPr sz="30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646A8D98-C24D-3909-1CCD-C43BCFF110D3}"/>
              </a:ext>
            </a:extLst>
          </p:cNvPr>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lnSpcReduction="10000"/>
          </a:bodyPr>
          <a:lstStyle/>
          <a:p>
            <a:pPr indent="-457200">
              <a:buSzPts val="2800"/>
            </a:pPr>
            <a:r>
              <a:rPr lang="en-IN" dirty="0"/>
              <a:t>Which department have the highest number of employees?</a:t>
            </a:r>
          </a:p>
          <a:p>
            <a:pPr indent="-457200">
              <a:buSzPts val="2800"/>
            </a:pPr>
            <a:r>
              <a:rPr lang="en-IN" dirty="0"/>
              <a:t>What is the average salary per department?</a:t>
            </a:r>
          </a:p>
          <a:p>
            <a:pPr indent="-457200">
              <a:buSzPts val="2800"/>
            </a:pPr>
            <a:r>
              <a:rPr lang="en-IN" dirty="0"/>
              <a:t>What is the average salary range per department ?</a:t>
            </a:r>
          </a:p>
          <a:p>
            <a:pPr indent="-457200">
              <a:buSzPts val="2800"/>
            </a:pPr>
            <a:r>
              <a:rPr lang="en-IN" dirty="0"/>
              <a:t>Which job roles offer the highest salary?</a:t>
            </a:r>
          </a:p>
          <a:p>
            <a:pPr indent="-457200">
              <a:buSzPts val="2800"/>
            </a:pPr>
            <a:r>
              <a:rPr lang="en-IN" dirty="0"/>
              <a:t>Which year had the most employees taking leaves?</a:t>
            </a:r>
          </a:p>
          <a:p>
            <a:pPr indent="-457200">
              <a:buSzPts val="2800"/>
            </a:pPr>
            <a:r>
              <a:rPr lang="en-IN" dirty="0"/>
              <a:t>What is the average number of leave days taken by its employees per department?</a:t>
            </a:r>
          </a:p>
          <a:p>
            <a:pPr indent="-457200">
              <a:buSzPts val="2800"/>
            </a:pPr>
            <a:r>
              <a:rPr lang="en-IN" dirty="0"/>
              <a:t>Which department receives the highest total bonuses?</a:t>
            </a:r>
          </a:p>
          <a:p>
            <a:pPr indent="-457200">
              <a:buSzPts val="2800"/>
            </a:pPr>
            <a:r>
              <a:rPr lang="en-IN" dirty="0"/>
              <a:t>What is the average value of </a:t>
            </a:r>
            <a:r>
              <a:rPr lang="en-IN" dirty="0" err="1"/>
              <a:t>toal_amount</a:t>
            </a:r>
            <a:r>
              <a:rPr lang="en-IN" dirty="0"/>
              <a:t> after considering leave deductions?</a:t>
            </a:r>
          </a:p>
          <a:p>
            <a:pPr indent="-457200">
              <a:buSzPts val="2800"/>
            </a:pPr>
            <a:endParaRPr dirty="0"/>
          </a:p>
        </p:txBody>
      </p:sp>
    </p:spTree>
    <p:extLst>
      <p:ext uri="{BB962C8B-B14F-4D97-AF65-F5344CB8AC3E}">
        <p14:creationId xmlns:p14="http://schemas.microsoft.com/office/powerpoint/2010/main" val="197383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71E6-A794-44DF-316F-7513BECDDA3A}"/>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How many unique employees are currently in the system?</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105FE25-52B6-D8BF-B5AD-A6C8A22B4556}"/>
              </a:ext>
            </a:extLst>
          </p:cNvPr>
          <p:cNvSpPr>
            <a:spLocks noGrp="1"/>
          </p:cNvSpPr>
          <p:nvPr>
            <p:ph type="body" idx="1"/>
          </p:nvPr>
        </p:nvSpPr>
        <p:spPr>
          <a:xfrm>
            <a:off x="836612" y="1454944"/>
            <a:ext cx="5157787" cy="452437"/>
          </a:xfrm>
        </p:spPr>
        <p:txBody>
          <a:bodyPr>
            <a:normAutofit fontScale="85000" lnSpcReduction="20000"/>
          </a:bodyPr>
          <a:lstStyle/>
          <a:p>
            <a:r>
              <a:rPr lang="en-IN" dirty="0"/>
              <a:t>Query </a:t>
            </a:r>
          </a:p>
        </p:txBody>
      </p:sp>
      <p:sp>
        <p:nvSpPr>
          <p:cNvPr id="4" name="Text Placeholder 3">
            <a:extLst>
              <a:ext uri="{FF2B5EF4-FFF2-40B4-BE49-F238E27FC236}">
                <a16:creationId xmlns:a16="http://schemas.microsoft.com/office/drawing/2014/main" id="{A807DCAE-C97C-5843-7273-26FBBC77859D}"/>
              </a:ext>
            </a:extLst>
          </p:cNvPr>
          <p:cNvSpPr>
            <a:spLocks noGrp="1"/>
          </p:cNvSpPr>
          <p:nvPr>
            <p:ph type="body" idx="2"/>
          </p:nvPr>
        </p:nvSpPr>
        <p:spPr>
          <a:xfrm>
            <a:off x="862014" y="1948663"/>
            <a:ext cx="5157787"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AFF1F9B7-515E-715D-2720-BBC942D931EC}"/>
              </a:ext>
            </a:extLst>
          </p:cNvPr>
          <p:cNvSpPr>
            <a:spLocks noGrp="1"/>
          </p:cNvSpPr>
          <p:nvPr>
            <p:ph type="body" idx="3"/>
          </p:nvPr>
        </p:nvSpPr>
        <p:spPr>
          <a:xfrm>
            <a:off x="6197603" y="1445997"/>
            <a:ext cx="5071836" cy="489381"/>
          </a:xfrm>
        </p:spPr>
        <p:txBody>
          <a:bodyPr>
            <a:normAutofit fontScale="85000" lnSpcReduction="20000"/>
          </a:bodyPr>
          <a:lstStyle/>
          <a:p>
            <a:r>
              <a:rPr lang="en-IN" dirty="0"/>
              <a:t>Output</a:t>
            </a:r>
          </a:p>
        </p:txBody>
      </p:sp>
      <p:sp>
        <p:nvSpPr>
          <p:cNvPr id="6" name="Text Placeholder 5">
            <a:extLst>
              <a:ext uri="{FF2B5EF4-FFF2-40B4-BE49-F238E27FC236}">
                <a16:creationId xmlns:a16="http://schemas.microsoft.com/office/drawing/2014/main" id="{247600C1-90B7-831D-7BE3-415172D47874}"/>
              </a:ext>
            </a:extLst>
          </p:cNvPr>
          <p:cNvSpPr>
            <a:spLocks noGrp="1"/>
          </p:cNvSpPr>
          <p:nvPr>
            <p:ph type="body" idx="4"/>
          </p:nvPr>
        </p:nvSpPr>
        <p:spPr>
          <a:xfrm>
            <a:off x="6197603" y="1966177"/>
            <a:ext cx="5183188" cy="3684588"/>
          </a:xfrm>
        </p:spPr>
        <p:txBody>
          <a:bodyPr/>
          <a:lstStyle/>
          <a:p>
            <a:pPr marL="114300" indent="0">
              <a:buNone/>
            </a:pPr>
            <a:endParaRPr lang="en-IN" dirty="0"/>
          </a:p>
        </p:txBody>
      </p:sp>
      <p:pic>
        <p:nvPicPr>
          <p:cNvPr id="12" name="Picture 11" descr="A screenshot of a computer&#10;&#10;AI-generated content may be incorrect.">
            <a:extLst>
              <a:ext uri="{FF2B5EF4-FFF2-40B4-BE49-F238E27FC236}">
                <a16:creationId xmlns:a16="http://schemas.microsoft.com/office/drawing/2014/main" id="{2A53A70F-D8BE-4C91-7532-13268D0F6E6F}"/>
              </a:ext>
            </a:extLst>
          </p:cNvPr>
          <p:cNvPicPr>
            <a:picLocks noChangeAspect="1"/>
          </p:cNvPicPr>
          <p:nvPr/>
        </p:nvPicPr>
        <p:blipFill>
          <a:blip r:embed="rId2"/>
          <a:stretch>
            <a:fillRect/>
          </a:stretch>
        </p:blipFill>
        <p:spPr>
          <a:xfrm>
            <a:off x="6293055" y="2736481"/>
            <a:ext cx="2480242" cy="2896770"/>
          </a:xfrm>
          <a:prstGeom prst="rect">
            <a:avLst/>
          </a:prstGeom>
        </p:spPr>
      </p:pic>
      <p:pic>
        <p:nvPicPr>
          <p:cNvPr id="14" name="Picture 13">
            <a:extLst>
              <a:ext uri="{FF2B5EF4-FFF2-40B4-BE49-F238E27FC236}">
                <a16:creationId xmlns:a16="http://schemas.microsoft.com/office/drawing/2014/main" id="{C6BB1975-55D0-F894-B319-95A6640C0388}"/>
              </a:ext>
            </a:extLst>
          </p:cNvPr>
          <p:cNvPicPr>
            <a:picLocks noChangeAspect="1"/>
          </p:cNvPicPr>
          <p:nvPr/>
        </p:nvPicPr>
        <p:blipFill>
          <a:blip r:embed="rId3"/>
          <a:stretch>
            <a:fillRect/>
          </a:stretch>
        </p:blipFill>
        <p:spPr>
          <a:xfrm>
            <a:off x="1064118" y="2165356"/>
            <a:ext cx="4127313" cy="2042850"/>
          </a:xfrm>
          <a:prstGeom prst="rect">
            <a:avLst/>
          </a:prstGeom>
        </p:spPr>
      </p:pic>
      <p:pic>
        <p:nvPicPr>
          <p:cNvPr id="9" name="Picture 8">
            <a:extLst>
              <a:ext uri="{FF2B5EF4-FFF2-40B4-BE49-F238E27FC236}">
                <a16:creationId xmlns:a16="http://schemas.microsoft.com/office/drawing/2014/main" id="{92FA8265-6CDF-F21B-3EFD-FAA327A11132}"/>
              </a:ext>
            </a:extLst>
          </p:cNvPr>
          <p:cNvPicPr>
            <a:picLocks noChangeAspect="1"/>
          </p:cNvPicPr>
          <p:nvPr/>
        </p:nvPicPr>
        <p:blipFill>
          <a:blip r:embed="rId4"/>
          <a:stretch>
            <a:fillRect/>
          </a:stretch>
        </p:blipFill>
        <p:spPr>
          <a:xfrm>
            <a:off x="8676456" y="2732598"/>
            <a:ext cx="2711589" cy="2883048"/>
          </a:xfrm>
          <a:prstGeom prst="rect">
            <a:avLst/>
          </a:prstGeom>
        </p:spPr>
      </p:pic>
    </p:spTree>
    <p:extLst>
      <p:ext uri="{BB962C8B-B14F-4D97-AF65-F5344CB8AC3E}">
        <p14:creationId xmlns:p14="http://schemas.microsoft.com/office/powerpoint/2010/main" val="216251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098B9-EBF9-C5F7-3210-740AAC5E1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7F19B-CCBF-68C9-6C49-5F7AAA14D670}"/>
              </a:ext>
            </a:extLst>
          </p:cNvPr>
          <p:cNvSpPr>
            <a:spLocks noGrp="1"/>
          </p:cNvSpPr>
          <p:nvPr>
            <p:ph type="title"/>
          </p:nvPr>
        </p:nvSpPr>
        <p:spPr>
          <a:xfrm>
            <a:off x="838200" y="365126"/>
            <a:ext cx="10515600" cy="646980"/>
          </a:xfrm>
        </p:spPr>
        <p:txBody>
          <a:bodyPr>
            <a:normAutofit/>
          </a:bodyPr>
          <a:lstStyle/>
          <a:p>
            <a:r>
              <a:rPr lang="en-IN" sz="3000" b="1" dirty="0">
                <a:latin typeface="Times New Roman" panose="02020603050405020304" pitchFamily="18" charset="0"/>
                <a:cs typeface="Times New Roman" panose="02020603050405020304" pitchFamily="18" charset="0"/>
              </a:rPr>
              <a:t>Which department have the highest number of employees?</a:t>
            </a:r>
          </a:p>
        </p:txBody>
      </p:sp>
      <p:sp>
        <p:nvSpPr>
          <p:cNvPr id="4" name="Text Placeholder 3">
            <a:extLst>
              <a:ext uri="{FF2B5EF4-FFF2-40B4-BE49-F238E27FC236}">
                <a16:creationId xmlns:a16="http://schemas.microsoft.com/office/drawing/2014/main" id="{40CA04C0-3106-3BB2-7B2D-95529FCFF918}"/>
              </a:ext>
            </a:extLst>
          </p:cNvPr>
          <p:cNvSpPr>
            <a:spLocks noGrp="1"/>
          </p:cNvSpPr>
          <p:nvPr>
            <p:ph type="body" idx="1"/>
          </p:nvPr>
        </p:nvSpPr>
        <p:spPr>
          <a:xfrm>
            <a:off x="801328" y="1799303"/>
            <a:ext cx="5181600" cy="3805366"/>
          </a:xfrm>
        </p:spPr>
        <p:txBody>
          <a:bodyPr/>
          <a:lstStyle/>
          <a:p>
            <a:pPr marL="114300" indent="0">
              <a:buNone/>
            </a:pPr>
            <a:r>
              <a:rPr lang="en-IN" b="1" dirty="0"/>
              <a:t>Query</a:t>
            </a:r>
          </a:p>
        </p:txBody>
      </p:sp>
      <p:sp>
        <p:nvSpPr>
          <p:cNvPr id="5" name="Text Placeholder 4">
            <a:extLst>
              <a:ext uri="{FF2B5EF4-FFF2-40B4-BE49-F238E27FC236}">
                <a16:creationId xmlns:a16="http://schemas.microsoft.com/office/drawing/2014/main" id="{B82D4ED0-32F0-DFDB-5CE7-577B880ABB48}"/>
              </a:ext>
            </a:extLst>
          </p:cNvPr>
          <p:cNvSpPr>
            <a:spLocks noGrp="1"/>
          </p:cNvSpPr>
          <p:nvPr>
            <p:ph type="body" idx="2"/>
          </p:nvPr>
        </p:nvSpPr>
        <p:spPr>
          <a:xfrm>
            <a:off x="5687961" y="1535935"/>
            <a:ext cx="5181600" cy="4068734"/>
          </a:xfrm>
        </p:spPr>
        <p:txBody>
          <a:bodyPr/>
          <a:lstStyle/>
          <a:p>
            <a:pPr marL="114300" indent="0">
              <a:buNone/>
            </a:pPr>
            <a:r>
              <a:rPr lang="en-IN" b="1" dirty="0"/>
              <a:t>Output</a:t>
            </a:r>
          </a:p>
          <a:p>
            <a:pPr marL="114300" indent="0">
              <a:buNone/>
            </a:pPr>
            <a:endParaRPr lang="en-IN" b="1" dirty="0"/>
          </a:p>
        </p:txBody>
      </p:sp>
      <p:pic>
        <p:nvPicPr>
          <p:cNvPr id="9" name="Picture 8" descr="A screenshot of a computer&#10;&#10;AI-generated content may be incorrect.">
            <a:extLst>
              <a:ext uri="{FF2B5EF4-FFF2-40B4-BE49-F238E27FC236}">
                <a16:creationId xmlns:a16="http://schemas.microsoft.com/office/drawing/2014/main" id="{DBB8E470-D79A-74E8-9BAE-0DA8D3C137B9}"/>
              </a:ext>
            </a:extLst>
          </p:cNvPr>
          <p:cNvPicPr>
            <a:picLocks noChangeAspect="1"/>
          </p:cNvPicPr>
          <p:nvPr/>
        </p:nvPicPr>
        <p:blipFill>
          <a:blip r:embed="rId2"/>
          <a:stretch>
            <a:fillRect/>
          </a:stretch>
        </p:blipFill>
        <p:spPr>
          <a:xfrm>
            <a:off x="5631426" y="2597766"/>
            <a:ext cx="2647335" cy="2724299"/>
          </a:xfrm>
          <a:prstGeom prst="rect">
            <a:avLst/>
          </a:prstGeom>
        </p:spPr>
      </p:pic>
      <p:pic>
        <p:nvPicPr>
          <p:cNvPr id="10" name="Picture 9" descr="Cartoon of people standing in front of a graph">
            <a:extLst>
              <a:ext uri="{FF2B5EF4-FFF2-40B4-BE49-F238E27FC236}">
                <a16:creationId xmlns:a16="http://schemas.microsoft.com/office/drawing/2014/main" id="{11F32A9F-D4EA-54B2-DC4A-F729866B3C69}"/>
              </a:ext>
            </a:extLst>
          </p:cNvPr>
          <p:cNvPicPr>
            <a:picLocks noChangeAspect="1"/>
          </p:cNvPicPr>
          <p:nvPr/>
        </p:nvPicPr>
        <p:blipFill>
          <a:blip r:embed="rId3"/>
          <a:stretch>
            <a:fillRect/>
          </a:stretch>
        </p:blipFill>
        <p:spPr>
          <a:xfrm>
            <a:off x="8315633" y="2597766"/>
            <a:ext cx="3075039" cy="2807056"/>
          </a:xfrm>
          <a:prstGeom prst="rect">
            <a:avLst/>
          </a:prstGeom>
        </p:spPr>
      </p:pic>
      <p:pic>
        <p:nvPicPr>
          <p:cNvPr id="7" name="Picture 6">
            <a:extLst>
              <a:ext uri="{FF2B5EF4-FFF2-40B4-BE49-F238E27FC236}">
                <a16:creationId xmlns:a16="http://schemas.microsoft.com/office/drawing/2014/main" id="{F25C58D2-666C-6D49-38A0-9EE33D5E1B15}"/>
              </a:ext>
            </a:extLst>
          </p:cNvPr>
          <p:cNvPicPr>
            <a:picLocks noChangeAspect="1"/>
          </p:cNvPicPr>
          <p:nvPr/>
        </p:nvPicPr>
        <p:blipFill>
          <a:blip r:embed="rId4"/>
          <a:stretch>
            <a:fillRect/>
          </a:stretch>
        </p:blipFill>
        <p:spPr>
          <a:xfrm>
            <a:off x="838200" y="2641127"/>
            <a:ext cx="3792794" cy="2680938"/>
          </a:xfrm>
          <a:prstGeom prst="rect">
            <a:avLst/>
          </a:prstGeom>
        </p:spPr>
      </p:pic>
    </p:spTree>
    <p:extLst>
      <p:ext uri="{BB962C8B-B14F-4D97-AF65-F5344CB8AC3E}">
        <p14:creationId xmlns:p14="http://schemas.microsoft.com/office/powerpoint/2010/main" val="3785114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1B0AD-8589-E966-9C2D-8498713AD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3BF8B4-1482-0343-52DF-819D209E0ABB}"/>
              </a:ext>
            </a:extLst>
          </p:cNvPr>
          <p:cNvSpPr>
            <a:spLocks noGrp="1"/>
          </p:cNvSpPr>
          <p:nvPr>
            <p:ph type="title"/>
          </p:nvPr>
        </p:nvSpPr>
        <p:spPr>
          <a:xfrm>
            <a:off x="838200" y="365125"/>
            <a:ext cx="10515600" cy="823479"/>
          </a:xfrm>
        </p:spPr>
        <p:txBody>
          <a:bodyPr>
            <a:normAutofit/>
          </a:bodyPr>
          <a:lstStyle/>
          <a:p>
            <a:r>
              <a:rPr lang="en-IN" sz="3000" b="1" dirty="0">
                <a:latin typeface="Times New Roman" panose="02020603050405020304" pitchFamily="18" charset="0"/>
                <a:cs typeface="Times New Roman" panose="02020603050405020304" pitchFamily="18" charset="0"/>
              </a:rPr>
              <a:t>What is the average salary per department?</a:t>
            </a:r>
          </a:p>
        </p:txBody>
      </p:sp>
      <p:sp>
        <p:nvSpPr>
          <p:cNvPr id="4" name="Text Placeholder 3">
            <a:extLst>
              <a:ext uri="{FF2B5EF4-FFF2-40B4-BE49-F238E27FC236}">
                <a16:creationId xmlns:a16="http://schemas.microsoft.com/office/drawing/2014/main" id="{C515A81B-1F61-B208-2B40-A3771D3ECCF4}"/>
              </a:ext>
            </a:extLst>
          </p:cNvPr>
          <p:cNvSpPr>
            <a:spLocks noGrp="1"/>
          </p:cNvSpPr>
          <p:nvPr>
            <p:ph type="body" idx="1"/>
          </p:nvPr>
        </p:nvSpPr>
        <p:spPr>
          <a:xfrm>
            <a:off x="401959" y="1351508"/>
            <a:ext cx="5181600" cy="4351338"/>
          </a:xfrm>
        </p:spPr>
        <p:txBody>
          <a:bodyPr/>
          <a:lstStyle/>
          <a:p>
            <a:pPr marL="114300" indent="0">
              <a:buNone/>
            </a:pPr>
            <a:r>
              <a:rPr lang="en-IN" b="1" dirty="0"/>
              <a:t>Query</a:t>
            </a:r>
          </a:p>
        </p:txBody>
      </p:sp>
      <p:sp>
        <p:nvSpPr>
          <p:cNvPr id="5" name="Text Placeholder 4">
            <a:extLst>
              <a:ext uri="{FF2B5EF4-FFF2-40B4-BE49-F238E27FC236}">
                <a16:creationId xmlns:a16="http://schemas.microsoft.com/office/drawing/2014/main" id="{69B7047C-27A4-503A-1B4A-440487635C70}"/>
              </a:ext>
            </a:extLst>
          </p:cNvPr>
          <p:cNvSpPr>
            <a:spLocks noGrp="1"/>
          </p:cNvSpPr>
          <p:nvPr>
            <p:ph type="body" idx="2"/>
          </p:nvPr>
        </p:nvSpPr>
        <p:spPr>
          <a:xfrm>
            <a:off x="4247536" y="1449831"/>
            <a:ext cx="5181600" cy="4351338"/>
          </a:xfrm>
        </p:spPr>
        <p:txBody>
          <a:bodyPr/>
          <a:lstStyle/>
          <a:p>
            <a:pPr marL="114300" indent="0">
              <a:buNone/>
            </a:pPr>
            <a:r>
              <a:rPr lang="en-IN" b="1" dirty="0"/>
              <a:t>Output</a:t>
            </a:r>
          </a:p>
          <a:p>
            <a:pPr marL="114300" indent="0">
              <a:buNone/>
            </a:pPr>
            <a:endParaRPr lang="en-IN" b="1" dirty="0"/>
          </a:p>
        </p:txBody>
      </p:sp>
      <p:pic>
        <p:nvPicPr>
          <p:cNvPr id="7" name="Picture 6" descr="A screenshot of a computer&#10;&#10;AI-generated content may be incorrect.">
            <a:extLst>
              <a:ext uri="{FF2B5EF4-FFF2-40B4-BE49-F238E27FC236}">
                <a16:creationId xmlns:a16="http://schemas.microsoft.com/office/drawing/2014/main" id="{E62A7CC1-D589-51B0-0E44-5BE57A7A0DFE}"/>
              </a:ext>
            </a:extLst>
          </p:cNvPr>
          <p:cNvPicPr>
            <a:picLocks noChangeAspect="1"/>
          </p:cNvPicPr>
          <p:nvPr/>
        </p:nvPicPr>
        <p:blipFill>
          <a:blip r:embed="rId2"/>
          <a:stretch>
            <a:fillRect/>
          </a:stretch>
        </p:blipFill>
        <p:spPr>
          <a:xfrm>
            <a:off x="401959" y="2091454"/>
            <a:ext cx="3462118" cy="2871446"/>
          </a:xfrm>
          <a:prstGeom prst="rect">
            <a:avLst/>
          </a:prstGeom>
        </p:spPr>
      </p:pic>
      <p:pic>
        <p:nvPicPr>
          <p:cNvPr id="10" name="Picture 9" descr="A screenshot of a computer">
            <a:extLst>
              <a:ext uri="{FF2B5EF4-FFF2-40B4-BE49-F238E27FC236}">
                <a16:creationId xmlns:a16="http://schemas.microsoft.com/office/drawing/2014/main" id="{91C69AB8-95AC-7AE5-0A8F-7DDA6CE44348}"/>
              </a:ext>
            </a:extLst>
          </p:cNvPr>
          <p:cNvPicPr>
            <a:picLocks noChangeAspect="1"/>
          </p:cNvPicPr>
          <p:nvPr/>
        </p:nvPicPr>
        <p:blipFill>
          <a:blip r:embed="rId3"/>
          <a:stretch>
            <a:fillRect/>
          </a:stretch>
        </p:blipFill>
        <p:spPr>
          <a:xfrm>
            <a:off x="4375618" y="2091454"/>
            <a:ext cx="3440763" cy="2875541"/>
          </a:xfrm>
          <a:prstGeom prst="rect">
            <a:avLst/>
          </a:prstGeom>
        </p:spPr>
      </p:pic>
      <p:pic>
        <p:nvPicPr>
          <p:cNvPr id="1028" name="Picture 4" descr="Create a unique PowerPoint-style infographic showing five average salaries across different departments. Use animal characters to represent each department (e.g., owl for HR, fox for Sales, bear for Engineering, parrot for Marketing, robot for IT). Include a stylized bar chart or radial graph to display the average salaries. Place department names and their average salaries prominently above the diagram, not below. Use a clean corporate background and a title that reads 'Average Salary per Department'.">
            <a:extLst>
              <a:ext uri="{FF2B5EF4-FFF2-40B4-BE49-F238E27FC236}">
                <a16:creationId xmlns:a16="http://schemas.microsoft.com/office/drawing/2014/main" id="{02119640-8DFE-90E1-2230-7DA86D93A9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1320" y="2091454"/>
            <a:ext cx="3086537" cy="2752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017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F23B3-4C4C-239C-0F94-F7BE4C25F21B}"/>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Who are the top 5 highest-paid employees?</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878E1D0-4FFC-68F6-9678-4E2E20F62303}"/>
              </a:ext>
            </a:extLst>
          </p:cNvPr>
          <p:cNvSpPr>
            <a:spLocks noGrp="1"/>
          </p:cNvSpPr>
          <p:nvPr>
            <p:ph type="body" idx="1"/>
          </p:nvPr>
        </p:nvSpPr>
        <p:spPr>
          <a:xfrm>
            <a:off x="839788" y="1681163"/>
            <a:ext cx="5157787" cy="512736"/>
          </a:xfrm>
        </p:spPr>
        <p:txBody>
          <a:bodyPr>
            <a:normAutofit lnSpcReduction="10000"/>
          </a:bodyPr>
          <a:lstStyle/>
          <a:p>
            <a:r>
              <a:rPr lang="en-IN" dirty="0"/>
              <a:t>Query</a:t>
            </a:r>
          </a:p>
        </p:txBody>
      </p:sp>
      <p:sp>
        <p:nvSpPr>
          <p:cNvPr id="4" name="Text Placeholder 3">
            <a:extLst>
              <a:ext uri="{FF2B5EF4-FFF2-40B4-BE49-F238E27FC236}">
                <a16:creationId xmlns:a16="http://schemas.microsoft.com/office/drawing/2014/main" id="{98E55DB4-2365-8F18-476D-9E7D2640427B}"/>
              </a:ext>
            </a:extLst>
          </p:cNvPr>
          <p:cNvSpPr>
            <a:spLocks noGrp="1"/>
          </p:cNvSpPr>
          <p:nvPr>
            <p:ph type="body" idx="2"/>
          </p:nvPr>
        </p:nvSpPr>
        <p:spPr>
          <a:xfrm>
            <a:off x="839789" y="2193899"/>
            <a:ext cx="4005848"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22FF3E93-F0B7-BB4B-2CA2-5A2045AA682A}"/>
              </a:ext>
            </a:extLst>
          </p:cNvPr>
          <p:cNvSpPr>
            <a:spLocks noGrp="1"/>
          </p:cNvSpPr>
          <p:nvPr>
            <p:ph type="body" idx="3"/>
          </p:nvPr>
        </p:nvSpPr>
        <p:spPr>
          <a:xfrm>
            <a:off x="6172200" y="1681163"/>
            <a:ext cx="5183188" cy="512736"/>
          </a:xfrm>
        </p:spPr>
        <p:txBody>
          <a:bodyPr>
            <a:normAutofit lnSpcReduction="10000"/>
          </a:bodyPr>
          <a:lstStyle/>
          <a:p>
            <a:r>
              <a:rPr lang="en-IN" dirty="0"/>
              <a:t>Output</a:t>
            </a:r>
          </a:p>
        </p:txBody>
      </p:sp>
      <p:sp>
        <p:nvSpPr>
          <p:cNvPr id="6" name="Text Placeholder 5">
            <a:extLst>
              <a:ext uri="{FF2B5EF4-FFF2-40B4-BE49-F238E27FC236}">
                <a16:creationId xmlns:a16="http://schemas.microsoft.com/office/drawing/2014/main" id="{54733D02-4B11-733F-F9CF-BABD64A08480}"/>
              </a:ext>
            </a:extLst>
          </p:cNvPr>
          <p:cNvSpPr>
            <a:spLocks noGrp="1"/>
          </p:cNvSpPr>
          <p:nvPr>
            <p:ph type="body" idx="4"/>
          </p:nvPr>
        </p:nvSpPr>
        <p:spPr>
          <a:xfrm>
            <a:off x="5037468" y="2150047"/>
            <a:ext cx="5183188" cy="3684588"/>
          </a:xfrm>
        </p:spPr>
        <p:txBody>
          <a:bodyPr/>
          <a:lstStyle/>
          <a:p>
            <a:pPr marL="114300" indent="0">
              <a:buNone/>
            </a:pPr>
            <a:endParaRPr lang="en-IN" dirty="0"/>
          </a:p>
        </p:txBody>
      </p:sp>
      <p:pic>
        <p:nvPicPr>
          <p:cNvPr id="13" name="Picture 12">
            <a:extLst>
              <a:ext uri="{FF2B5EF4-FFF2-40B4-BE49-F238E27FC236}">
                <a16:creationId xmlns:a16="http://schemas.microsoft.com/office/drawing/2014/main" id="{BBE371AA-F362-5E25-3612-62BA7FD705E8}"/>
              </a:ext>
            </a:extLst>
          </p:cNvPr>
          <p:cNvPicPr>
            <a:picLocks noChangeAspect="1"/>
          </p:cNvPicPr>
          <p:nvPr/>
        </p:nvPicPr>
        <p:blipFill>
          <a:blip r:embed="rId2"/>
          <a:stretch>
            <a:fillRect/>
          </a:stretch>
        </p:blipFill>
        <p:spPr>
          <a:xfrm>
            <a:off x="926419" y="2241526"/>
            <a:ext cx="3436918" cy="2251815"/>
          </a:xfrm>
          <a:prstGeom prst="rect">
            <a:avLst/>
          </a:prstGeom>
        </p:spPr>
      </p:pic>
      <p:pic>
        <p:nvPicPr>
          <p:cNvPr id="15" name="Picture 14">
            <a:extLst>
              <a:ext uri="{FF2B5EF4-FFF2-40B4-BE49-F238E27FC236}">
                <a16:creationId xmlns:a16="http://schemas.microsoft.com/office/drawing/2014/main" id="{FE95232D-33C6-B339-360A-319E9B81559B}"/>
              </a:ext>
            </a:extLst>
          </p:cNvPr>
          <p:cNvPicPr>
            <a:picLocks noChangeAspect="1"/>
          </p:cNvPicPr>
          <p:nvPr/>
        </p:nvPicPr>
        <p:blipFill>
          <a:blip r:embed="rId3"/>
          <a:stretch>
            <a:fillRect/>
          </a:stretch>
        </p:blipFill>
        <p:spPr>
          <a:xfrm>
            <a:off x="5134448" y="2241525"/>
            <a:ext cx="2823648" cy="2074835"/>
          </a:xfrm>
          <a:prstGeom prst="rect">
            <a:avLst/>
          </a:prstGeom>
        </p:spPr>
      </p:pic>
      <p:pic>
        <p:nvPicPr>
          <p:cNvPr id="2050" name="Picture 2" descr="Create a completely different and creative PowerPoint-style infographic unrelated to the uploaded image. Use a futuristic or abstract layout such as floating salary bubbles, spiral salary rings, or animated-style department mascots. Represent departments like HR, Sales, Engineering, Marketing, and IT with imaginative symbols or characters (e.g., rocket for Engineering, megaphone for Marketing). Avoid any previously used styles and ensure the design is fresh, engaging, and suitable for a presentation. Include a clean corporate background and a title that reads 'Department Salary Insights'.">
            <a:extLst>
              <a:ext uri="{FF2B5EF4-FFF2-40B4-BE49-F238E27FC236}">
                <a16:creationId xmlns:a16="http://schemas.microsoft.com/office/drawing/2014/main" id="{7C414540-69A6-8F46-3513-197C92D348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4028" y="2150047"/>
            <a:ext cx="3397311" cy="3684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458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CB773-B02D-F0E6-C6FE-54DC01E25656}"/>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What is the total salary expenditure across the company?</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48FD94F-9E40-79C4-44FD-CD3742128704}"/>
              </a:ext>
            </a:extLst>
          </p:cNvPr>
          <p:cNvSpPr>
            <a:spLocks noGrp="1"/>
          </p:cNvSpPr>
          <p:nvPr>
            <p:ph type="body" idx="1"/>
          </p:nvPr>
        </p:nvSpPr>
        <p:spPr/>
        <p:txBody>
          <a:bodyPr/>
          <a:lstStyle/>
          <a:p>
            <a:r>
              <a:rPr lang="en-IN" dirty="0"/>
              <a:t>Query	</a:t>
            </a:r>
          </a:p>
        </p:txBody>
      </p:sp>
      <p:sp>
        <p:nvSpPr>
          <p:cNvPr id="4" name="Text Placeholder 3">
            <a:extLst>
              <a:ext uri="{FF2B5EF4-FFF2-40B4-BE49-F238E27FC236}">
                <a16:creationId xmlns:a16="http://schemas.microsoft.com/office/drawing/2014/main" id="{26D092D5-2F0F-33EC-A059-8971AA254BB1}"/>
              </a:ext>
            </a:extLst>
          </p:cNvPr>
          <p:cNvSpPr>
            <a:spLocks noGrp="1"/>
          </p:cNvSpPr>
          <p:nvPr>
            <p:ph type="body" idx="2"/>
          </p:nvPr>
        </p:nvSpPr>
        <p:spPr>
          <a:xfrm>
            <a:off x="839788" y="2505075"/>
            <a:ext cx="3761709"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399F696F-7282-E7CF-F61A-FAD23E158EAF}"/>
              </a:ext>
            </a:extLst>
          </p:cNvPr>
          <p:cNvSpPr>
            <a:spLocks noGrp="1"/>
          </p:cNvSpPr>
          <p:nvPr>
            <p:ph type="body" idx="3"/>
          </p:nvPr>
        </p:nvSpPr>
        <p:spPr>
          <a:xfrm>
            <a:off x="4776122" y="1578203"/>
            <a:ext cx="5183188" cy="823912"/>
          </a:xfrm>
        </p:spPr>
        <p:txBody>
          <a:bodyPr/>
          <a:lstStyle/>
          <a:p>
            <a:r>
              <a:rPr lang="en-IN" dirty="0"/>
              <a:t>Output</a:t>
            </a:r>
          </a:p>
        </p:txBody>
      </p:sp>
      <p:sp>
        <p:nvSpPr>
          <p:cNvPr id="6" name="Text Placeholder 5">
            <a:extLst>
              <a:ext uri="{FF2B5EF4-FFF2-40B4-BE49-F238E27FC236}">
                <a16:creationId xmlns:a16="http://schemas.microsoft.com/office/drawing/2014/main" id="{9E8D8C7B-E918-293D-DBDE-026FEA5BE767}"/>
              </a:ext>
            </a:extLst>
          </p:cNvPr>
          <p:cNvSpPr>
            <a:spLocks noGrp="1"/>
          </p:cNvSpPr>
          <p:nvPr>
            <p:ph type="body" idx="4"/>
          </p:nvPr>
        </p:nvSpPr>
        <p:spPr>
          <a:xfrm>
            <a:off x="4776122" y="2505075"/>
            <a:ext cx="5183188" cy="3684588"/>
          </a:xfrm>
        </p:spPr>
        <p:txBody>
          <a:bodyPr/>
          <a:lstStyle/>
          <a:p>
            <a:pPr marL="114300" indent="0">
              <a:buNone/>
            </a:pPr>
            <a:endParaRPr lang="en-IN" dirty="0"/>
          </a:p>
        </p:txBody>
      </p:sp>
      <p:pic>
        <p:nvPicPr>
          <p:cNvPr id="11" name="Picture 10">
            <a:extLst>
              <a:ext uri="{FF2B5EF4-FFF2-40B4-BE49-F238E27FC236}">
                <a16:creationId xmlns:a16="http://schemas.microsoft.com/office/drawing/2014/main" id="{9865D8A8-A446-AD75-E8E6-51CCE196257D}"/>
              </a:ext>
            </a:extLst>
          </p:cNvPr>
          <p:cNvPicPr>
            <a:picLocks noChangeAspect="1"/>
          </p:cNvPicPr>
          <p:nvPr/>
        </p:nvPicPr>
        <p:blipFill>
          <a:blip r:embed="rId2"/>
          <a:stretch>
            <a:fillRect/>
          </a:stretch>
        </p:blipFill>
        <p:spPr>
          <a:xfrm>
            <a:off x="923886" y="2608034"/>
            <a:ext cx="3320820" cy="1213079"/>
          </a:xfrm>
          <a:prstGeom prst="rect">
            <a:avLst/>
          </a:prstGeom>
        </p:spPr>
      </p:pic>
      <p:pic>
        <p:nvPicPr>
          <p:cNvPr id="13" name="Picture 12">
            <a:extLst>
              <a:ext uri="{FF2B5EF4-FFF2-40B4-BE49-F238E27FC236}">
                <a16:creationId xmlns:a16="http://schemas.microsoft.com/office/drawing/2014/main" id="{7413EF37-C0FE-906A-790E-63E3486169EF}"/>
              </a:ext>
            </a:extLst>
          </p:cNvPr>
          <p:cNvPicPr>
            <a:picLocks noChangeAspect="1"/>
          </p:cNvPicPr>
          <p:nvPr/>
        </p:nvPicPr>
        <p:blipFill>
          <a:blip r:embed="rId3"/>
          <a:stretch>
            <a:fillRect/>
          </a:stretch>
        </p:blipFill>
        <p:spPr>
          <a:xfrm>
            <a:off x="4894052" y="2608033"/>
            <a:ext cx="2499805" cy="1110119"/>
          </a:xfrm>
          <a:prstGeom prst="rect">
            <a:avLst/>
          </a:prstGeom>
        </p:spPr>
      </p:pic>
      <p:sp>
        <p:nvSpPr>
          <p:cNvPr id="8" name="AutoShape 4" descr="Image of ">
            <a:extLst>
              <a:ext uri="{FF2B5EF4-FFF2-40B4-BE49-F238E27FC236}">
                <a16:creationId xmlns:a16="http://schemas.microsoft.com/office/drawing/2014/main" id="{7BF890A8-069B-053F-A330-47383D4ACB8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2D9318A6-D3BC-9C28-1069-BC71D39B01A9}"/>
              </a:ext>
            </a:extLst>
          </p:cNvPr>
          <p:cNvPicPr>
            <a:picLocks noChangeAspect="1"/>
          </p:cNvPicPr>
          <p:nvPr/>
        </p:nvPicPr>
        <p:blipFill>
          <a:blip r:embed="rId4"/>
          <a:stretch>
            <a:fillRect/>
          </a:stretch>
        </p:blipFill>
        <p:spPr>
          <a:xfrm>
            <a:off x="7923036" y="2505075"/>
            <a:ext cx="3429176" cy="3580039"/>
          </a:xfrm>
          <a:prstGeom prst="rect">
            <a:avLst/>
          </a:prstGeom>
        </p:spPr>
      </p:pic>
    </p:spTree>
    <p:extLst>
      <p:ext uri="{BB962C8B-B14F-4D97-AF65-F5344CB8AC3E}">
        <p14:creationId xmlns:p14="http://schemas.microsoft.com/office/powerpoint/2010/main" val="54117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CF828-715E-4078-FBE3-8DFE90CF6683}"/>
              </a:ext>
            </a:extLst>
          </p:cNvPr>
          <p:cNvSpPr>
            <a:spLocks noGrp="1"/>
          </p:cNvSpPr>
          <p:nvPr>
            <p:ph type="title"/>
          </p:nvPr>
        </p:nvSpPr>
        <p:spPr>
          <a:xfrm>
            <a:off x="839788" y="1"/>
            <a:ext cx="10515600" cy="1690688"/>
          </a:xfrm>
        </p:spPr>
        <p:txBody>
          <a:bodyPr>
            <a:normAutofit/>
          </a:bodyPr>
          <a:lstStyle/>
          <a:p>
            <a:r>
              <a:rPr lang="en-US" sz="3000" b="1" dirty="0">
                <a:latin typeface="Times New Roman" panose="02020603050405020304" pitchFamily="18" charset="0"/>
                <a:cs typeface="Times New Roman" panose="02020603050405020304" pitchFamily="18" charset="0"/>
              </a:rPr>
              <a:t>2. JOB ROLE AND DEPARTMENT ANALYSIS</a:t>
            </a:r>
            <a:br>
              <a:rPr lang="en-US" sz="3000" b="1" dirty="0">
                <a:latin typeface="Times New Roman" panose="02020603050405020304" pitchFamily="18" charset="0"/>
                <a:cs typeface="Times New Roman" panose="02020603050405020304" pitchFamily="18" charset="0"/>
              </a:rPr>
            </a:br>
            <a:r>
              <a:rPr lang="en-US" sz="3000" b="1" dirty="0">
                <a:latin typeface="Times New Roman" panose="02020603050405020304" pitchFamily="18" charset="0"/>
                <a:cs typeface="Times New Roman" panose="02020603050405020304" pitchFamily="18" charset="0"/>
              </a:rPr>
              <a:t>How many different job roles exist in </a:t>
            </a:r>
            <a:br>
              <a:rPr lang="en-US" sz="3000" b="1" dirty="0">
                <a:latin typeface="Times New Roman" panose="02020603050405020304" pitchFamily="18" charset="0"/>
                <a:cs typeface="Times New Roman" panose="02020603050405020304" pitchFamily="18" charset="0"/>
              </a:rPr>
            </a:br>
            <a:r>
              <a:rPr lang="en-US" sz="3000" b="1" dirty="0">
                <a:latin typeface="Times New Roman" panose="02020603050405020304" pitchFamily="18" charset="0"/>
                <a:cs typeface="Times New Roman" panose="02020603050405020304" pitchFamily="18" charset="0"/>
              </a:rPr>
              <a:t>each department?</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359AFD9-17D5-B44C-448E-DF47B304C328}"/>
              </a:ext>
            </a:extLst>
          </p:cNvPr>
          <p:cNvSpPr>
            <a:spLocks noGrp="1"/>
          </p:cNvSpPr>
          <p:nvPr>
            <p:ph type="body" idx="1"/>
          </p:nvPr>
        </p:nvSpPr>
        <p:spPr/>
        <p:txBody>
          <a:bodyPr/>
          <a:lstStyle/>
          <a:p>
            <a:r>
              <a:rPr lang="en-IN" dirty="0"/>
              <a:t>Query</a:t>
            </a:r>
          </a:p>
        </p:txBody>
      </p:sp>
      <p:sp>
        <p:nvSpPr>
          <p:cNvPr id="4" name="Text Placeholder 3">
            <a:extLst>
              <a:ext uri="{FF2B5EF4-FFF2-40B4-BE49-F238E27FC236}">
                <a16:creationId xmlns:a16="http://schemas.microsoft.com/office/drawing/2014/main" id="{D05B1E50-C42F-4B49-88A9-177F4E6FCB19}"/>
              </a:ext>
            </a:extLst>
          </p:cNvPr>
          <p:cNvSpPr>
            <a:spLocks noGrp="1"/>
          </p:cNvSpPr>
          <p:nvPr>
            <p:ph type="body" idx="2"/>
          </p:nvPr>
        </p:nvSpPr>
        <p:spPr>
          <a:xfrm>
            <a:off x="839789" y="2505075"/>
            <a:ext cx="3476572"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A348CB1F-811F-8761-AB0C-EDC10C0A52CE}"/>
              </a:ext>
            </a:extLst>
          </p:cNvPr>
          <p:cNvSpPr>
            <a:spLocks noGrp="1"/>
          </p:cNvSpPr>
          <p:nvPr>
            <p:ph type="body" idx="3"/>
          </p:nvPr>
        </p:nvSpPr>
        <p:spPr>
          <a:xfrm>
            <a:off x="4488287" y="1941997"/>
            <a:ext cx="5183188" cy="610367"/>
          </a:xfrm>
        </p:spPr>
        <p:txBody>
          <a:bodyPr/>
          <a:lstStyle/>
          <a:p>
            <a:r>
              <a:rPr lang="en-IN" dirty="0"/>
              <a:t>Output</a:t>
            </a:r>
          </a:p>
        </p:txBody>
      </p:sp>
      <p:sp>
        <p:nvSpPr>
          <p:cNvPr id="6" name="Text Placeholder 5">
            <a:extLst>
              <a:ext uri="{FF2B5EF4-FFF2-40B4-BE49-F238E27FC236}">
                <a16:creationId xmlns:a16="http://schemas.microsoft.com/office/drawing/2014/main" id="{14345A3C-EAF3-C5B1-7343-3F19144CAAC1}"/>
              </a:ext>
            </a:extLst>
          </p:cNvPr>
          <p:cNvSpPr>
            <a:spLocks noGrp="1"/>
          </p:cNvSpPr>
          <p:nvPr>
            <p:ph type="body" idx="4"/>
          </p:nvPr>
        </p:nvSpPr>
        <p:spPr>
          <a:xfrm>
            <a:off x="4660213" y="2438397"/>
            <a:ext cx="5183188" cy="3684588"/>
          </a:xfrm>
        </p:spPr>
        <p:txBody>
          <a:bodyPr/>
          <a:lstStyle/>
          <a:p>
            <a:pPr marL="114300" indent="0">
              <a:buNone/>
            </a:pPr>
            <a:endParaRPr lang="en-IN" dirty="0"/>
          </a:p>
        </p:txBody>
      </p:sp>
      <p:pic>
        <p:nvPicPr>
          <p:cNvPr id="11" name="Picture 10">
            <a:extLst>
              <a:ext uri="{FF2B5EF4-FFF2-40B4-BE49-F238E27FC236}">
                <a16:creationId xmlns:a16="http://schemas.microsoft.com/office/drawing/2014/main" id="{FFBBE6DA-947F-5E67-62FE-711CB89FF083}"/>
              </a:ext>
            </a:extLst>
          </p:cNvPr>
          <p:cNvPicPr>
            <a:picLocks noChangeAspect="1"/>
          </p:cNvPicPr>
          <p:nvPr/>
        </p:nvPicPr>
        <p:blipFill>
          <a:blip r:embed="rId2"/>
          <a:stretch>
            <a:fillRect/>
          </a:stretch>
        </p:blipFill>
        <p:spPr>
          <a:xfrm>
            <a:off x="839788" y="2520716"/>
            <a:ext cx="3420255" cy="1832210"/>
          </a:xfrm>
          <a:prstGeom prst="rect">
            <a:avLst/>
          </a:prstGeom>
        </p:spPr>
      </p:pic>
      <p:pic>
        <p:nvPicPr>
          <p:cNvPr id="13" name="Picture 12">
            <a:extLst>
              <a:ext uri="{FF2B5EF4-FFF2-40B4-BE49-F238E27FC236}">
                <a16:creationId xmlns:a16="http://schemas.microsoft.com/office/drawing/2014/main" id="{7A69D72A-E2D5-838F-1878-C1D75308341D}"/>
              </a:ext>
            </a:extLst>
          </p:cNvPr>
          <p:cNvPicPr>
            <a:picLocks noChangeAspect="1"/>
          </p:cNvPicPr>
          <p:nvPr/>
        </p:nvPicPr>
        <p:blipFill>
          <a:blip r:embed="rId3"/>
          <a:stretch>
            <a:fillRect/>
          </a:stretch>
        </p:blipFill>
        <p:spPr>
          <a:xfrm>
            <a:off x="4787378" y="2505075"/>
            <a:ext cx="2989938" cy="3128809"/>
          </a:xfrm>
          <a:prstGeom prst="rect">
            <a:avLst/>
          </a:prstGeom>
        </p:spPr>
      </p:pic>
      <p:pic>
        <p:nvPicPr>
          <p:cNvPr id="8" name="Picture 7">
            <a:extLst>
              <a:ext uri="{FF2B5EF4-FFF2-40B4-BE49-F238E27FC236}">
                <a16:creationId xmlns:a16="http://schemas.microsoft.com/office/drawing/2014/main" id="{FC8DAEE1-568C-5DCB-5852-338C40F669DC}"/>
              </a:ext>
            </a:extLst>
          </p:cNvPr>
          <p:cNvPicPr>
            <a:picLocks noChangeAspect="1"/>
          </p:cNvPicPr>
          <p:nvPr/>
        </p:nvPicPr>
        <p:blipFill>
          <a:blip r:embed="rId4"/>
          <a:stretch>
            <a:fillRect/>
          </a:stretch>
        </p:blipFill>
        <p:spPr>
          <a:xfrm>
            <a:off x="7991592" y="2505075"/>
            <a:ext cx="3513323" cy="3483432"/>
          </a:xfrm>
          <a:prstGeom prst="rect">
            <a:avLst/>
          </a:prstGeom>
        </p:spPr>
      </p:pic>
    </p:spTree>
    <p:extLst>
      <p:ext uri="{BB962C8B-B14F-4D97-AF65-F5344CB8AC3E}">
        <p14:creationId xmlns:p14="http://schemas.microsoft.com/office/powerpoint/2010/main" val="2132234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BDF8A-9E31-3F21-1C91-E619C441764A}"/>
              </a:ext>
            </a:extLst>
          </p:cNvPr>
          <p:cNvSpPr>
            <a:spLocks noGrp="1"/>
          </p:cNvSpPr>
          <p:nvPr>
            <p:ph type="title"/>
          </p:nvPr>
        </p:nvSpPr>
        <p:spPr>
          <a:xfrm>
            <a:off x="839788" y="365125"/>
            <a:ext cx="7144006" cy="1325563"/>
          </a:xfrm>
        </p:spPr>
        <p:txBody>
          <a:bodyPr>
            <a:normAutofit/>
          </a:bodyPr>
          <a:lstStyle/>
          <a:p>
            <a:r>
              <a:rPr lang="en-US" sz="3000" b="1" dirty="0">
                <a:latin typeface="Times New Roman" panose="02020603050405020304" pitchFamily="18" charset="0"/>
                <a:cs typeface="Times New Roman" panose="02020603050405020304" pitchFamily="18" charset="0"/>
              </a:rPr>
              <a:t>What is the average salary range per department?</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7752613-FF0C-057B-97EA-5021E509D945}"/>
              </a:ext>
            </a:extLst>
          </p:cNvPr>
          <p:cNvSpPr>
            <a:spLocks noGrp="1"/>
          </p:cNvSpPr>
          <p:nvPr>
            <p:ph type="body" idx="1"/>
          </p:nvPr>
        </p:nvSpPr>
        <p:spPr/>
        <p:txBody>
          <a:bodyPr/>
          <a:lstStyle/>
          <a:p>
            <a:r>
              <a:rPr lang="en-IN" dirty="0"/>
              <a:t>Query	</a:t>
            </a:r>
          </a:p>
        </p:txBody>
      </p:sp>
      <p:sp>
        <p:nvSpPr>
          <p:cNvPr id="4" name="Text Placeholder 3">
            <a:extLst>
              <a:ext uri="{FF2B5EF4-FFF2-40B4-BE49-F238E27FC236}">
                <a16:creationId xmlns:a16="http://schemas.microsoft.com/office/drawing/2014/main" id="{D573B043-538C-06CA-1D14-93741919DD9E}"/>
              </a:ext>
            </a:extLst>
          </p:cNvPr>
          <p:cNvSpPr>
            <a:spLocks noGrp="1"/>
          </p:cNvSpPr>
          <p:nvPr>
            <p:ph type="body" idx="2"/>
          </p:nvPr>
        </p:nvSpPr>
        <p:spPr>
          <a:xfrm>
            <a:off x="839788" y="2505075"/>
            <a:ext cx="3299593"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8A74FC2D-9E38-F2E6-BC1A-A1361589A844}"/>
              </a:ext>
            </a:extLst>
          </p:cNvPr>
          <p:cNvSpPr>
            <a:spLocks noGrp="1"/>
          </p:cNvSpPr>
          <p:nvPr>
            <p:ph type="body" idx="3"/>
          </p:nvPr>
        </p:nvSpPr>
        <p:spPr>
          <a:xfrm>
            <a:off x="4453209" y="1681163"/>
            <a:ext cx="5183188" cy="823912"/>
          </a:xfrm>
        </p:spPr>
        <p:txBody>
          <a:bodyPr/>
          <a:lstStyle/>
          <a:p>
            <a:r>
              <a:rPr lang="en-IN" dirty="0"/>
              <a:t>Output</a:t>
            </a:r>
          </a:p>
        </p:txBody>
      </p:sp>
      <p:sp>
        <p:nvSpPr>
          <p:cNvPr id="6" name="Text Placeholder 5">
            <a:extLst>
              <a:ext uri="{FF2B5EF4-FFF2-40B4-BE49-F238E27FC236}">
                <a16:creationId xmlns:a16="http://schemas.microsoft.com/office/drawing/2014/main" id="{A9E8AED6-8146-BBFB-68BC-BECDD0CE2C70}"/>
              </a:ext>
            </a:extLst>
          </p:cNvPr>
          <p:cNvSpPr>
            <a:spLocks noGrp="1"/>
          </p:cNvSpPr>
          <p:nvPr>
            <p:ph type="body" idx="4"/>
          </p:nvPr>
        </p:nvSpPr>
        <p:spPr/>
        <p:txBody>
          <a:bodyPr/>
          <a:lstStyle/>
          <a:p>
            <a:pPr marL="114300" indent="0">
              <a:buNone/>
            </a:pPr>
            <a:endParaRPr lang="en-IN" dirty="0"/>
          </a:p>
        </p:txBody>
      </p:sp>
      <p:sp>
        <p:nvSpPr>
          <p:cNvPr id="7" name="Text Placeholder 5">
            <a:extLst>
              <a:ext uri="{FF2B5EF4-FFF2-40B4-BE49-F238E27FC236}">
                <a16:creationId xmlns:a16="http://schemas.microsoft.com/office/drawing/2014/main" id="{4BE16F90-D363-4BC2-60EE-BA0E9AF2189C}"/>
              </a:ext>
            </a:extLst>
          </p:cNvPr>
          <p:cNvSpPr txBox="1">
            <a:spLocks/>
          </p:cNvSpPr>
          <p:nvPr/>
        </p:nvSpPr>
        <p:spPr>
          <a:xfrm>
            <a:off x="4561707" y="2505075"/>
            <a:ext cx="3953028" cy="36845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Font typeface="Arial"/>
              <a:buNone/>
            </a:pPr>
            <a:endParaRPr lang="en-IN" dirty="0"/>
          </a:p>
        </p:txBody>
      </p:sp>
      <p:pic>
        <p:nvPicPr>
          <p:cNvPr id="11" name="Picture 10" descr="A table with numbers and letters&#10;&#10;AI-generated content may be incorrect.">
            <a:extLst>
              <a:ext uri="{FF2B5EF4-FFF2-40B4-BE49-F238E27FC236}">
                <a16:creationId xmlns:a16="http://schemas.microsoft.com/office/drawing/2014/main" id="{7165C19E-A302-E279-663D-F331083A9449}"/>
              </a:ext>
            </a:extLst>
          </p:cNvPr>
          <p:cNvPicPr>
            <a:picLocks noChangeAspect="1"/>
          </p:cNvPicPr>
          <p:nvPr/>
        </p:nvPicPr>
        <p:blipFill>
          <a:blip r:embed="rId2"/>
          <a:stretch>
            <a:fillRect/>
          </a:stretch>
        </p:blipFill>
        <p:spPr>
          <a:xfrm>
            <a:off x="4641801" y="2514600"/>
            <a:ext cx="3492602" cy="3372851"/>
          </a:xfrm>
          <a:prstGeom prst="rect">
            <a:avLst/>
          </a:prstGeom>
        </p:spPr>
      </p:pic>
      <p:pic>
        <p:nvPicPr>
          <p:cNvPr id="14" name="Picture 13">
            <a:extLst>
              <a:ext uri="{FF2B5EF4-FFF2-40B4-BE49-F238E27FC236}">
                <a16:creationId xmlns:a16="http://schemas.microsoft.com/office/drawing/2014/main" id="{48177588-1D11-FD56-1F86-CFCE7F0B5B9B}"/>
              </a:ext>
            </a:extLst>
          </p:cNvPr>
          <p:cNvPicPr>
            <a:picLocks noChangeAspect="1"/>
          </p:cNvPicPr>
          <p:nvPr/>
        </p:nvPicPr>
        <p:blipFill>
          <a:blip r:embed="rId3"/>
          <a:stretch>
            <a:fillRect/>
          </a:stretch>
        </p:blipFill>
        <p:spPr>
          <a:xfrm>
            <a:off x="389162" y="2557395"/>
            <a:ext cx="4078014" cy="1994939"/>
          </a:xfrm>
          <a:prstGeom prst="rect">
            <a:avLst/>
          </a:prstGeom>
        </p:spPr>
      </p:pic>
      <p:pic>
        <p:nvPicPr>
          <p:cNvPr id="10" name="Picture 9">
            <a:extLst>
              <a:ext uri="{FF2B5EF4-FFF2-40B4-BE49-F238E27FC236}">
                <a16:creationId xmlns:a16="http://schemas.microsoft.com/office/drawing/2014/main" id="{27F95A05-AEBC-E371-A3C1-5E8B75412B67}"/>
              </a:ext>
            </a:extLst>
          </p:cNvPr>
          <p:cNvPicPr>
            <a:picLocks noChangeAspect="1"/>
          </p:cNvPicPr>
          <p:nvPr/>
        </p:nvPicPr>
        <p:blipFill>
          <a:blip r:embed="rId4"/>
          <a:stretch>
            <a:fillRect/>
          </a:stretch>
        </p:blipFill>
        <p:spPr>
          <a:xfrm>
            <a:off x="8162422" y="2505075"/>
            <a:ext cx="3168813" cy="3473629"/>
          </a:xfrm>
          <a:prstGeom prst="rect">
            <a:avLst/>
          </a:prstGeom>
        </p:spPr>
      </p:pic>
    </p:spTree>
    <p:extLst>
      <p:ext uri="{BB962C8B-B14F-4D97-AF65-F5344CB8AC3E}">
        <p14:creationId xmlns:p14="http://schemas.microsoft.com/office/powerpoint/2010/main" val="769380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4AA28-C4AD-2A12-F40C-57DD539C79CD}"/>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Which job roles offer the highest salary?</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F8DF10B-0587-6D42-E3B6-2B4993D78EC3}"/>
              </a:ext>
            </a:extLst>
          </p:cNvPr>
          <p:cNvSpPr>
            <a:spLocks noGrp="1"/>
          </p:cNvSpPr>
          <p:nvPr>
            <p:ph type="body" idx="1"/>
          </p:nvPr>
        </p:nvSpPr>
        <p:spPr/>
        <p:txBody>
          <a:bodyPr/>
          <a:lstStyle/>
          <a:p>
            <a:r>
              <a:rPr lang="en-IN" dirty="0"/>
              <a:t>Query</a:t>
            </a:r>
          </a:p>
        </p:txBody>
      </p:sp>
      <p:sp>
        <p:nvSpPr>
          <p:cNvPr id="4" name="Text Placeholder 3">
            <a:extLst>
              <a:ext uri="{FF2B5EF4-FFF2-40B4-BE49-F238E27FC236}">
                <a16:creationId xmlns:a16="http://schemas.microsoft.com/office/drawing/2014/main" id="{5ED6883D-2465-0FF0-7CB5-E679B9367C00}"/>
              </a:ext>
            </a:extLst>
          </p:cNvPr>
          <p:cNvSpPr>
            <a:spLocks noGrp="1"/>
          </p:cNvSpPr>
          <p:nvPr>
            <p:ph type="body" idx="2"/>
          </p:nvPr>
        </p:nvSpPr>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18E1B0A9-49B9-5015-54B2-5D81AADAD3D9}"/>
              </a:ext>
            </a:extLst>
          </p:cNvPr>
          <p:cNvSpPr>
            <a:spLocks noGrp="1"/>
          </p:cNvSpPr>
          <p:nvPr>
            <p:ph type="body" idx="3"/>
          </p:nvPr>
        </p:nvSpPr>
        <p:spPr/>
        <p:txBody>
          <a:bodyPr/>
          <a:lstStyle/>
          <a:p>
            <a:r>
              <a:rPr lang="en-IN" dirty="0"/>
              <a:t>Output</a:t>
            </a:r>
          </a:p>
        </p:txBody>
      </p:sp>
      <p:sp>
        <p:nvSpPr>
          <p:cNvPr id="6" name="Text Placeholder 5">
            <a:extLst>
              <a:ext uri="{FF2B5EF4-FFF2-40B4-BE49-F238E27FC236}">
                <a16:creationId xmlns:a16="http://schemas.microsoft.com/office/drawing/2014/main" id="{47F8E80C-B046-729B-B9E6-D6CACD3D95CE}"/>
              </a:ext>
            </a:extLst>
          </p:cNvPr>
          <p:cNvSpPr>
            <a:spLocks noGrp="1"/>
          </p:cNvSpPr>
          <p:nvPr>
            <p:ph type="body" idx="4"/>
          </p:nvPr>
        </p:nvSpPr>
        <p:spPr>
          <a:xfrm>
            <a:off x="6172200" y="2505075"/>
            <a:ext cx="2834148" cy="3684588"/>
          </a:xfrm>
        </p:spPr>
        <p:txBody>
          <a:bodyPr/>
          <a:lstStyle/>
          <a:p>
            <a:pPr marL="114300" indent="0">
              <a:buNone/>
            </a:pPr>
            <a:endParaRPr lang="en-IN" dirty="0"/>
          </a:p>
        </p:txBody>
      </p:sp>
      <p:pic>
        <p:nvPicPr>
          <p:cNvPr id="10" name="Picture 9" descr="A screenshot of a computer screen&#10;&#10;AI-generated content may be incorrect.">
            <a:extLst>
              <a:ext uri="{FF2B5EF4-FFF2-40B4-BE49-F238E27FC236}">
                <a16:creationId xmlns:a16="http://schemas.microsoft.com/office/drawing/2014/main" id="{201BC481-2C32-9123-92F7-3E4C6CD73361}"/>
              </a:ext>
            </a:extLst>
          </p:cNvPr>
          <p:cNvPicPr>
            <a:picLocks noChangeAspect="1"/>
          </p:cNvPicPr>
          <p:nvPr/>
        </p:nvPicPr>
        <p:blipFill>
          <a:blip r:embed="rId2"/>
          <a:stretch>
            <a:fillRect/>
          </a:stretch>
        </p:blipFill>
        <p:spPr>
          <a:xfrm>
            <a:off x="6192107" y="2640070"/>
            <a:ext cx="2814241" cy="3549593"/>
          </a:xfrm>
          <a:prstGeom prst="rect">
            <a:avLst/>
          </a:prstGeom>
        </p:spPr>
      </p:pic>
      <p:pic>
        <p:nvPicPr>
          <p:cNvPr id="11" name="Picture 10">
            <a:extLst>
              <a:ext uri="{FF2B5EF4-FFF2-40B4-BE49-F238E27FC236}">
                <a16:creationId xmlns:a16="http://schemas.microsoft.com/office/drawing/2014/main" id="{14492A34-FF69-1773-911F-CF2488A7B9F7}"/>
              </a:ext>
            </a:extLst>
          </p:cNvPr>
          <p:cNvPicPr>
            <a:picLocks noChangeAspect="1"/>
          </p:cNvPicPr>
          <p:nvPr/>
        </p:nvPicPr>
        <p:blipFill>
          <a:blip r:embed="rId3"/>
          <a:stretch>
            <a:fillRect/>
          </a:stretch>
        </p:blipFill>
        <p:spPr>
          <a:xfrm>
            <a:off x="839788" y="2629184"/>
            <a:ext cx="4138019" cy="2118743"/>
          </a:xfrm>
          <a:prstGeom prst="rect">
            <a:avLst/>
          </a:prstGeom>
        </p:spPr>
      </p:pic>
      <p:pic>
        <p:nvPicPr>
          <p:cNvPr id="8" name="Picture 7">
            <a:extLst>
              <a:ext uri="{FF2B5EF4-FFF2-40B4-BE49-F238E27FC236}">
                <a16:creationId xmlns:a16="http://schemas.microsoft.com/office/drawing/2014/main" id="{441A3009-3E80-4698-9EFF-5C0B48389943}"/>
              </a:ext>
            </a:extLst>
          </p:cNvPr>
          <p:cNvPicPr>
            <a:picLocks noChangeAspect="1"/>
          </p:cNvPicPr>
          <p:nvPr/>
        </p:nvPicPr>
        <p:blipFill>
          <a:blip r:embed="rId4"/>
          <a:stretch>
            <a:fillRect/>
          </a:stretch>
        </p:blipFill>
        <p:spPr>
          <a:xfrm>
            <a:off x="8928284" y="2394858"/>
            <a:ext cx="2952902" cy="3794806"/>
          </a:xfrm>
          <a:prstGeom prst="rect">
            <a:avLst/>
          </a:prstGeom>
        </p:spPr>
      </p:pic>
    </p:spTree>
    <p:extLst>
      <p:ext uri="{BB962C8B-B14F-4D97-AF65-F5344CB8AC3E}">
        <p14:creationId xmlns:p14="http://schemas.microsoft.com/office/powerpoint/2010/main" val="466020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390AC-10AC-5E36-B7EC-8F3000158712}"/>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Which department have the highest total salary allocation?</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F191B19-CD39-A4D8-D40F-BBBCD3E9E3D9}"/>
              </a:ext>
            </a:extLst>
          </p:cNvPr>
          <p:cNvSpPr>
            <a:spLocks noGrp="1"/>
          </p:cNvSpPr>
          <p:nvPr>
            <p:ph type="body" idx="1"/>
          </p:nvPr>
        </p:nvSpPr>
        <p:spPr/>
        <p:txBody>
          <a:bodyPr/>
          <a:lstStyle/>
          <a:p>
            <a:r>
              <a:rPr lang="en-IN" dirty="0" err="1"/>
              <a:t>JobRole</a:t>
            </a:r>
            <a:endParaRPr lang="en-IN" dirty="0"/>
          </a:p>
        </p:txBody>
      </p:sp>
      <p:sp>
        <p:nvSpPr>
          <p:cNvPr id="4" name="Text Placeholder 3">
            <a:extLst>
              <a:ext uri="{FF2B5EF4-FFF2-40B4-BE49-F238E27FC236}">
                <a16:creationId xmlns:a16="http://schemas.microsoft.com/office/drawing/2014/main" id="{CBFF8C7F-BBA6-0A25-AD4C-57B86814AB1E}"/>
              </a:ext>
            </a:extLst>
          </p:cNvPr>
          <p:cNvSpPr>
            <a:spLocks noGrp="1"/>
          </p:cNvSpPr>
          <p:nvPr>
            <p:ph type="body" idx="2"/>
          </p:nvPr>
        </p:nvSpPr>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7B838D5C-E169-2172-AB8B-5F2DFDE9A111}"/>
              </a:ext>
            </a:extLst>
          </p:cNvPr>
          <p:cNvSpPr>
            <a:spLocks noGrp="1"/>
          </p:cNvSpPr>
          <p:nvPr>
            <p:ph type="body" idx="3"/>
          </p:nvPr>
        </p:nvSpPr>
        <p:spPr/>
        <p:txBody>
          <a:bodyPr/>
          <a:lstStyle/>
          <a:p>
            <a:r>
              <a:rPr lang="en-IN" dirty="0"/>
              <a:t>Output</a:t>
            </a:r>
          </a:p>
        </p:txBody>
      </p:sp>
      <p:sp>
        <p:nvSpPr>
          <p:cNvPr id="6" name="Text Placeholder 5">
            <a:extLst>
              <a:ext uri="{FF2B5EF4-FFF2-40B4-BE49-F238E27FC236}">
                <a16:creationId xmlns:a16="http://schemas.microsoft.com/office/drawing/2014/main" id="{B373D929-573E-6DB7-38B7-881AB743975D}"/>
              </a:ext>
            </a:extLst>
          </p:cNvPr>
          <p:cNvSpPr>
            <a:spLocks noGrp="1"/>
          </p:cNvSpPr>
          <p:nvPr>
            <p:ph type="body" idx="4"/>
          </p:nvPr>
        </p:nvSpPr>
        <p:spPr/>
        <p:txBody>
          <a:bodyPr/>
          <a:lstStyle/>
          <a:p>
            <a:pPr marL="114300" indent="0">
              <a:buNone/>
            </a:pPr>
            <a:endParaRPr lang="en-IN" dirty="0"/>
          </a:p>
        </p:txBody>
      </p:sp>
      <p:pic>
        <p:nvPicPr>
          <p:cNvPr id="8" name="Picture 7">
            <a:extLst>
              <a:ext uri="{FF2B5EF4-FFF2-40B4-BE49-F238E27FC236}">
                <a16:creationId xmlns:a16="http://schemas.microsoft.com/office/drawing/2014/main" id="{AD8F45C4-DF31-6944-E786-F6E9124848BE}"/>
              </a:ext>
            </a:extLst>
          </p:cNvPr>
          <p:cNvPicPr>
            <a:picLocks noChangeAspect="1"/>
          </p:cNvPicPr>
          <p:nvPr/>
        </p:nvPicPr>
        <p:blipFill>
          <a:blip r:embed="rId2"/>
          <a:stretch>
            <a:fillRect/>
          </a:stretch>
        </p:blipFill>
        <p:spPr>
          <a:xfrm>
            <a:off x="993393" y="2560278"/>
            <a:ext cx="4561833" cy="1431619"/>
          </a:xfrm>
          <a:prstGeom prst="rect">
            <a:avLst/>
          </a:prstGeom>
        </p:spPr>
      </p:pic>
      <p:pic>
        <p:nvPicPr>
          <p:cNvPr id="13" name="Picture 12">
            <a:extLst>
              <a:ext uri="{FF2B5EF4-FFF2-40B4-BE49-F238E27FC236}">
                <a16:creationId xmlns:a16="http://schemas.microsoft.com/office/drawing/2014/main" id="{3FCD3EC6-0E09-C80D-1A51-6E9C484183DA}"/>
              </a:ext>
            </a:extLst>
          </p:cNvPr>
          <p:cNvPicPr>
            <a:picLocks noChangeAspect="1"/>
          </p:cNvPicPr>
          <p:nvPr/>
        </p:nvPicPr>
        <p:blipFill>
          <a:blip r:embed="rId3"/>
          <a:stretch>
            <a:fillRect/>
          </a:stretch>
        </p:blipFill>
        <p:spPr>
          <a:xfrm>
            <a:off x="6194427" y="2564728"/>
            <a:ext cx="2454166" cy="864272"/>
          </a:xfrm>
          <a:prstGeom prst="rect">
            <a:avLst/>
          </a:prstGeom>
        </p:spPr>
      </p:pic>
      <p:pic>
        <p:nvPicPr>
          <p:cNvPr id="9" name="Picture 8">
            <a:extLst>
              <a:ext uri="{FF2B5EF4-FFF2-40B4-BE49-F238E27FC236}">
                <a16:creationId xmlns:a16="http://schemas.microsoft.com/office/drawing/2014/main" id="{9018D611-1E7A-1AB2-B80E-2F2A56A686EB}"/>
              </a:ext>
            </a:extLst>
          </p:cNvPr>
          <p:cNvPicPr>
            <a:picLocks noChangeAspect="1"/>
          </p:cNvPicPr>
          <p:nvPr/>
        </p:nvPicPr>
        <p:blipFill>
          <a:blip r:embed="rId4"/>
          <a:stretch>
            <a:fillRect/>
          </a:stretch>
        </p:blipFill>
        <p:spPr>
          <a:xfrm>
            <a:off x="9067800" y="2505075"/>
            <a:ext cx="2563697" cy="3684588"/>
          </a:xfrm>
          <a:prstGeom prst="rect">
            <a:avLst/>
          </a:prstGeom>
        </p:spPr>
      </p:pic>
    </p:spTree>
    <p:extLst>
      <p:ext uri="{BB962C8B-B14F-4D97-AF65-F5344CB8AC3E}">
        <p14:creationId xmlns:p14="http://schemas.microsoft.com/office/powerpoint/2010/main" val="1935258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A652E-0511-ED29-B5D5-065C5667F4B4}"/>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3. QUALIFICATION AND SKILLS ANALYSIS</a:t>
            </a:r>
            <a:br>
              <a:rPr lang="en-US" sz="3000" b="1" dirty="0">
                <a:latin typeface="Times New Roman" panose="02020603050405020304" pitchFamily="18" charset="0"/>
                <a:cs typeface="Times New Roman" panose="02020603050405020304" pitchFamily="18" charset="0"/>
              </a:rPr>
            </a:br>
            <a:r>
              <a:rPr lang="en-US" sz="3000" b="1" dirty="0">
                <a:latin typeface="Times New Roman" panose="02020603050405020304" pitchFamily="18" charset="0"/>
                <a:cs typeface="Times New Roman" panose="02020603050405020304" pitchFamily="18" charset="0"/>
              </a:rPr>
              <a:t>How many employees have at least one qualification listed?</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7393748-636F-EC75-88E7-0E4E33358DC0}"/>
              </a:ext>
            </a:extLst>
          </p:cNvPr>
          <p:cNvSpPr>
            <a:spLocks noGrp="1"/>
          </p:cNvSpPr>
          <p:nvPr>
            <p:ph type="body" idx="1"/>
          </p:nvPr>
        </p:nvSpPr>
        <p:spPr>
          <a:xfrm>
            <a:off x="839788" y="1984375"/>
            <a:ext cx="5157787" cy="823912"/>
          </a:xfrm>
        </p:spPr>
        <p:txBody>
          <a:bodyPr/>
          <a:lstStyle/>
          <a:p>
            <a:r>
              <a:rPr lang="en-IN" dirty="0"/>
              <a:t>Query</a:t>
            </a:r>
          </a:p>
        </p:txBody>
      </p:sp>
      <p:sp>
        <p:nvSpPr>
          <p:cNvPr id="4" name="Text Placeholder 3">
            <a:extLst>
              <a:ext uri="{FF2B5EF4-FFF2-40B4-BE49-F238E27FC236}">
                <a16:creationId xmlns:a16="http://schemas.microsoft.com/office/drawing/2014/main" id="{0B4182F9-4B9C-7ECC-ED8E-CA73C5EAC1B1}"/>
              </a:ext>
            </a:extLst>
          </p:cNvPr>
          <p:cNvSpPr>
            <a:spLocks noGrp="1"/>
          </p:cNvSpPr>
          <p:nvPr>
            <p:ph type="body" idx="2"/>
          </p:nvPr>
        </p:nvSpPr>
        <p:spPr>
          <a:xfrm>
            <a:off x="839788" y="2808287"/>
            <a:ext cx="4243489"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3D5C67A2-12D4-6B0A-24F1-745E160E6165}"/>
              </a:ext>
            </a:extLst>
          </p:cNvPr>
          <p:cNvSpPr>
            <a:spLocks noGrp="1"/>
          </p:cNvSpPr>
          <p:nvPr>
            <p:ph type="body" idx="3"/>
          </p:nvPr>
        </p:nvSpPr>
        <p:spPr>
          <a:xfrm>
            <a:off x="5474110" y="1913892"/>
            <a:ext cx="5183188" cy="823912"/>
          </a:xfrm>
        </p:spPr>
        <p:txBody>
          <a:bodyPr/>
          <a:lstStyle/>
          <a:p>
            <a:r>
              <a:rPr lang="en-IN" dirty="0"/>
              <a:t>Output</a:t>
            </a:r>
          </a:p>
        </p:txBody>
      </p:sp>
      <p:sp>
        <p:nvSpPr>
          <p:cNvPr id="6" name="Text Placeholder 5">
            <a:extLst>
              <a:ext uri="{FF2B5EF4-FFF2-40B4-BE49-F238E27FC236}">
                <a16:creationId xmlns:a16="http://schemas.microsoft.com/office/drawing/2014/main" id="{A4ED74F5-760D-6DE5-466E-B61A7E252778}"/>
              </a:ext>
            </a:extLst>
          </p:cNvPr>
          <p:cNvSpPr>
            <a:spLocks noGrp="1"/>
          </p:cNvSpPr>
          <p:nvPr>
            <p:ph type="body" idx="4"/>
          </p:nvPr>
        </p:nvSpPr>
        <p:spPr>
          <a:xfrm>
            <a:off x="5735843" y="2737804"/>
            <a:ext cx="5183188" cy="3684588"/>
          </a:xfrm>
        </p:spPr>
        <p:txBody>
          <a:bodyPr/>
          <a:lstStyle/>
          <a:p>
            <a:pPr marL="114300" indent="0">
              <a:buNone/>
            </a:pPr>
            <a:endParaRPr lang="en-IN" dirty="0"/>
          </a:p>
        </p:txBody>
      </p:sp>
      <p:pic>
        <p:nvPicPr>
          <p:cNvPr id="11" name="Picture 10">
            <a:extLst>
              <a:ext uri="{FF2B5EF4-FFF2-40B4-BE49-F238E27FC236}">
                <a16:creationId xmlns:a16="http://schemas.microsoft.com/office/drawing/2014/main" id="{CD0E128D-97A1-525B-7E2B-5E8045D99117}"/>
              </a:ext>
            </a:extLst>
          </p:cNvPr>
          <p:cNvPicPr>
            <a:picLocks noChangeAspect="1"/>
          </p:cNvPicPr>
          <p:nvPr/>
        </p:nvPicPr>
        <p:blipFill>
          <a:blip r:embed="rId2"/>
          <a:stretch>
            <a:fillRect/>
          </a:stretch>
        </p:blipFill>
        <p:spPr>
          <a:xfrm>
            <a:off x="858229" y="2878770"/>
            <a:ext cx="4206605" cy="2292998"/>
          </a:xfrm>
          <a:prstGeom prst="rect">
            <a:avLst/>
          </a:prstGeom>
        </p:spPr>
      </p:pic>
      <p:pic>
        <p:nvPicPr>
          <p:cNvPr id="13" name="Picture 12">
            <a:extLst>
              <a:ext uri="{FF2B5EF4-FFF2-40B4-BE49-F238E27FC236}">
                <a16:creationId xmlns:a16="http://schemas.microsoft.com/office/drawing/2014/main" id="{E4DD1E3F-95DC-B8D9-4224-AAFA50CABF49}"/>
              </a:ext>
            </a:extLst>
          </p:cNvPr>
          <p:cNvPicPr>
            <a:picLocks noChangeAspect="1"/>
          </p:cNvPicPr>
          <p:nvPr/>
        </p:nvPicPr>
        <p:blipFill>
          <a:blip r:embed="rId3"/>
          <a:stretch>
            <a:fillRect/>
          </a:stretch>
        </p:blipFill>
        <p:spPr>
          <a:xfrm>
            <a:off x="5816061" y="2854302"/>
            <a:ext cx="2034716" cy="1195412"/>
          </a:xfrm>
          <a:prstGeom prst="rect">
            <a:avLst/>
          </a:prstGeom>
        </p:spPr>
      </p:pic>
      <p:pic>
        <p:nvPicPr>
          <p:cNvPr id="8" name="Picture 7">
            <a:extLst>
              <a:ext uri="{FF2B5EF4-FFF2-40B4-BE49-F238E27FC236}">
                <a16:creationId xmlns:a16="http://schemas.microsoft.com/office/drawing/2014/main" id="{A02F2C66-AB72-D3E6-8710-5819312F7F12}"/>
              </a:ext>
            </a:extLst>
          </p:cNvPr>
          <p:cNvPicPr>
            <a:picLocks noChangeAspect="1"/>
          </p:cNvPicPr>
          <p:nvPr/>
        </p:nvPicPr>
        <p:blipFill>
          <a:blip r:embed="rId4"/>
          <a:stretch>
            <a:fillRect/>
          </a:stretch>
        </p:blipFill>
        <p:spPr>
          <a:xfrm>
            <a:off x="7850777" y="2941399"/>
            <a:ext cx="3645087" cy="3277398"/>
          </a:xfrm>
          <a:prstGeom prst="rect">
            <a:avLst/>
          </a:prstGeom>
        </p:spPr>
      </p:pic>
    </p:spTree>
    <p:extLst>
      <p:ext uri="{BB962C8B-B14F-4D97-AF65-F5344CB8AC3E}">
        <p14:creationId xmlns:p14="http://schemas.microsoft.com/office/powerpoint/2010/main" val="2265244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52DBD-DE97-C055-594E-9F38D8CDBDE4}"/>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Which positions require the most qualifications?</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6095CCE-4F68-0C0D-6802-21E9692B6C35}"/>
              </a:ext>
            </a:extLst>
          </p:cNvPr>
          <p:cNvSpPr>
            <a:spLocks noGrp="1"/>
          </p:cNvSpPr>
          <p:nvPr>
            <p:ph type="body" idx="1"/>
          </p:nvPr>
        </p:nvSpPr>
        <p:spPr/>
        <p:txBody>
          <a:bodyPr/>
          <a:lstStyle/>
          <a:p>
            <a:r>
              <a:rPr lang="en-IN" dirty="0"/>
              <a:t>Query</a:t>
            </a:r>
          </a:p>
        </p:txBody>
      </p:sp>
      <p:sp>
        <p:nvSpPr>
          <p:cNvPr id="4" name="Text Placeholder 3">
            <a:extLst>
              <a:ext uri="{FF2B5EF4-FFF2-40B4-BE49-F238E27FC236}">
                <a16:creationId xmlns:a16="http://schemas.microsoft.com/office/drawing/2014/main" id="{6B5F1894-97A7-B84F-B3FC-E7567CDA9BD2}"/>
              </a:ext>
            </a:extLst>
          </p:cNvPr>
          <p:cNvSpPr>
            <a:spLocks noGrp="1"/>
          </p:cNvSpPr>
          <p:nvPr>
            <p:ph type="body" idx="2"/>
          </p:nvPr>
        </p:nvSpPr>
        <p:spPr>
          <a:xfrm>
            <a:off x="839789" y="2505075"/>
            <a:ext cx="3574896"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AD76ACB5-EAFF-ECB1-3C9A-F178F4F4AC70}"/>
              </a:ext>
            </a:extLst>
          </p:cNvPr>
          <p:cNvSpPr>
            <a:spLocks noGrp="1"/>
          </p:cNvSpPr>
          <p:nvPr>
            <p:ph type="body" idx="3"/>
          </p:nvPr>
        </p:nvSpPr>
        <p:spPr>
          <a:xfrm>
            <a:off x="4658103" y="1645450"/>
            <a:ext cx="5183188" cy="823912"/>
          </a:xfrm>
        </p:spPr>
        <p:txBody>
          <a:bodyPr/>
          <a:lstStyle/>
          <a:p>
            <a:r>
              <a:rPr lang="en-IN" dirty="0"/>
              <a:t>Output</a:t>
            </a:r>
          </a:p>
        </p:txBody>
      </p:sp>
      <p:sp>
        <p:nvSpPr>
          <p:cNvPr id="6" name="Text Placeholder 5">
            <a:extLst>
              <a:ext uri="{FF2B5EF4-FFF2-40B4-BE49-F238E27FC236}">
                <a16:creationId xmlns:a16="http://schemas.microsoft.com/office/drawing/2014/main" id="{FAC879C6-052A-6C20-44C8-B6A84D438C6F}"/>
              </a:ext>
            </a:extLst>
          </p:cNvPr>
          <p:cNvSpPr>
            <a:spLocks noGrp="1"/>
          </p:cNvSpPr>
          <p:nvPr>
            <p:ph type="body" idx="4"/>
          </p:nvPr>
        </p:nvSpPr>
        <p:spPr>
          <a:xfrm>
            <a:off x="4658103" y="2469822"/>
            <a:ext cx="5183188" cy="3684588"/>
          </a:xfrm>
        </p:spPr>
        <p:txBody>
          <a:bodyPr/>
          <a:lstStyle/>
          <a:p>
            <a:pPr marL="114300" indent="0">
              <a:buNone/>
            </a:pPr>
            <a:endParaRPr lang="en-IN" dirty="0"/>
          </a:p>
        </p:txBody>
      </p:sp>
      <p:pic>
        <p:nvPicPr>
          <p:cNvPr id="11" name="Picture 10">
            <a:extLst>
              <a:ext uri="{FF2B5EF4-FFF2-40B4-BE49-F238E27FC236}">
                <a16:creationId xmlns:a16="http://schemas.microsoft.com/office/drawing/2014/main" id="{996A1491-D0C4-6F9F-F31A-851A4902F28F}"/>
              </a:ext>
            </a:extLst>
          </p:cNvPr>
          <p:cNvPicPr>
            <a:picLocks noChangeAspect="1"/>
          </p:cNvPicPr>
          <p:nvPr/>
        </p:nvPicPr>
        <p:blipFill>
          <a:blip r:embed="rId2"/>
          <a:stretch>
            <a:fillRect/>
          </a:stretch>
        </p:blipFill>
        <p:spPr>
          <a:xfrm>
            <a:off x="575251" y="2496401"/>
            <a:ext cx="3876373" cy="2065767"/>
          </a:xfrm>
          <a:prstGeom prst="rect">
            <a:avLst/>
          </a:prstGeom>
        </p:spPr>
      </p:pic>
      <p:pic>
        <p:nvPicPr>
          <p:cNvPr id="13" name="Picture 12">
            <a:extLst>
              <a:ext uri="{FF2B5EF4-FFF2-40B4-BE49-F238E27FC236}">
                <a16:creationId xmlns:a16="http://schemas.microsoft.com/office/drawing/2014/main" id="{D258E383-E627-C7A8-BDE7-E9DC1A4F4B96}"/>
              </a:ext>
            </a:extLst>
          </p:cNvPr>
          <p:cNvPicPr>
            <a:picLocks noChangeAspect="1"/>
          </p:cNvPicPr>
          <p:nvPr/>
        </p:nvPicPr>
        <p:blipFill>
          <a:blip r:embed="rId3"/>
          <a:stretch>
            <a:fillRect/>
          </a:stretch>
        </p:blipFill>
        <p:spPr>
          <a:xfrm>
            <a:off x="4716162" y="2529761"/>
            <a:ext cx="3070986" cy="3133619"/>
          </a:xfrm>
          <a:prstGeom prst="rect">
            <a:avLst/>
          </a:prstGeom>
        </p:spPr>
      </p:pic>
      <p:pic>
        <p:nvPicPr>
          <p:cNvPr id="8" name="Picture 7">
            <a:extLst>
              <a:ext uri="{FF2B5EF4-FFF2-40B4-BE49-F238E27FC236}">
                <a16:creationId xmlns:a16="http://schemas.microsoft.com/office/drawing/2014/main" id="{5363418A-7CC2-D0B2-9FEE-DBB9C23826D0}"/>
              </a:ext>
            </a:extLst>
          </p:cNvPr>
          <p:cNvPicPr>
            <a:picLocks noChangeAspect="1"/>
          </p:cNvPicPr>
          <p:nvPr/>
        </p:nvPicPr>
        <p:blipFill>
          <a:blip r:embed="rId4"/>
          <a:stretch>
            <a:fillRect/>
          </a:stretch>
        </p:blipFill>
        <p:spPr>
          <a:xfrm>
            <a:off x="7787148" y="2529301"/>
            <a:ext cx="3467278" cy="3133619"/>
          </a:xfrm>
          <a:prstGeom prst="rect">
            <a:avLst/>
          </a:prstGeom>
        </p:spPr>
      </p:pic>
    </p:spTree>
    <p:extLst>
      <p:ext uri="{BB962C8B-B14F-4D97-AF65-F5344CB8AC3E}">
        <p14:creationId xmlns:p14="http://schemas.microsoft.com/office/powerpoint/2010/main" val="427896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422DF-21AA-4DE4-3F2A-9E2FC87C4005}"/>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Which employees have the highest number of qualifications?</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C557F9D-9CD2-EABE-4806-E9EC80FBD3E6}"/>
              </a:ext>
            </a:extLst>
          </p:cNvPr>
          <p:cNvSpPr>
            <a:spLocks noGrp="1"/>
          </p:cNvSpPr>
          <p:nvPr>
            <p:ph type="body" idx="1"/>
          </p:nvPr>
        </p:nvSpPr>
        <p:spPr/>
        <p:txBody>
          <a:bodyPr/>
          <a:lstStyle/>
          <a:p>
            <a:r>
              <a:rPr lang="en-IN" dirty="0"/>
              <a:t>Query</a:t>
            </a:r>
          </a:p>
        </p:txBody>
      </p:sp>
      <p:sp>
        <p:nvSpPr>
          <p:cNvPr id="4" name="Text Placeholder 3">
            <a:extLst>
              <a:ext uri="{FF2B5EF4-FFF2-40B4-BE49-F238E27FC236}">
                <a16:creationId xmlns:a16="http://schemas.microsoft.com/office/drawing/2014/main" id="{EB1ADF21-9BDF-950F-AA4B-3F54907F1B12}"/>
              </a:ext>
            </a:extLst>
          </p:cNvPr>
          <p:cNvSpPr>
            <a:spLocks noGrp="1"/>
          </p:cNvSpPr>
          <p:nvPr>
            <p:ph type="body" idx="2"/>
          </p:nvPr>
        </p:nvSpPr>
        <p:spPr>
          <a:xfrm>
            <a:off x="839788" y="2505075"/>
            <a:ext cx="3604393"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5918B039-9D95-65B9-D53E-ACD55A14FC5C}"/>
              </a:ext>
            </a:extLst>
          </p:cNvPr>
          <p:cNvSpPr>
            <a:spLocks noGrp="1"/>
          </p:cNvSpPr>
          <p:nvPr>
            <p:ph type="body" idx="3"/>
          </p:nvPr>
        </p:nvSpPr>
        <p:spPr>
          <a:xfrm>
            <a:off x="4874342" y="1681163"/>
            <a:ext cx="5183188" cy="823912"/>
          </a:xfrm>
        </p:spPr>
        <p:txBody>
          <a:bodyPr/>
          <a:lstStyle/>
          <a:p>
            <a:r>
              <a:rPr lang="en-IN" dirty="0"/>
              <a:t>Output</a:t>
            </a:r>
          </a:p>
        </p:txBody>
      </p:sp>
      <p:sp>
        <p:nvSpPr>
          <p:cNvPr id="6" name="Text Placeholder 5">
            <a:extLst>
              <a:ext uri="{FF2B5EF4-FFF2-40B4-BE49-F238E27FC236}">
                <a16:creationId xmlns:a16="http://schemas.microsoft.com/office/drawing/2014/main" id="{BE046F87-4E93-F932-CCB8-19B4AEE3293E}"/>
              </a:ext>
            </a:extLst>
          </p:cNvPr>
          <p:cNvSpPr>
            <a:spLocks noGrp="1"/>
          </p:cNvSpPr>
          <p:nvPr>
            <p:ph type="body" idx="4"/>
          </p:nvPr>
        </p:nvSpPr>
        <p:spPr>
          <a:xfrm>
            <a:off x="4949353" y="2505075"/>
            <a:ext cx="5183188" cy="3684588"/>
          </a:xfrm>
        </p:spPr>
        <p:txBody>
          <a:bodyPr/>
          <a:lstStyle/>
          <a:p>
            <a:pPr marL="114300" indent="0">
              <a:buNone/>
            </a:pPr>
            <a:endParaRPr lang="en-IN" dirty="0"/>
          </a:p>
        </p:txBody>
      </p:sp>
      <p:pic>
        <p:nvPicPr>
          <p:cNvPr id="10" name="Picture 9" descr="A screenshot of a computer&#10;&#10;AI-generated content may be incorrect.">
            <a:extLst>
              <a:ext uri="{FF2B5EF4-FFF2-40B4-BE49-F238E27FC236}">
                <a16:creationId xmlns:a16="http://schemas.microsoft.com/office/drawing/2014/main" id="{9FAF1006-66A4-24E8-549E-18CF7647BE8B}"/>
              </a:ext>
            </a:extLst>
          </p:cNvPr>
          <p:cNvPicPr>
            <a:picLocks noChangeAspect="1"/>
          </p:cNvPicPr>
          <p:nvPr/>
        </p:nvPicPr>
        <p:blipFill>
          <a:blip r:embed="rId2"/>
          <a:stretch>
            <a:fillRect/>
          </a:stretch>
        </p:blipFill>
        <p:spPr>
          <a:xfrm>
            <a:off x="4949353" y="2505075"/>
            <a:ext cx="3024608" cy="3272252"/>
          </a:xfrm>
          <a:prstGeom prst="rect">
            <a:avLst/>
          </a:prstGeom>
        </p:spPr>
      </p:pic>
      <p:pic>
        <p:nvPicPr>
          <p:cNvPr id="9" name="Picture 8" descr="A cartoon of two people standing on a podium&#10;&#10;AI-generated content may be incorrect.">
            <a:extLst>
              <a:ext uri="{FF2B5EF4-FFF2-40B4-BE49-F238E27FC236}">
                <a16:creationId xmlns:a16="http://schemas.microsoft.com/office/drawing/2014/main" id="{5B62372E-CB74-9E55-1574-FCD5D54311AE}"/>
              </a:ext>
            </a:extLst>
          </p:cNvPr>
          <p:cNvPicPr>
            <a:picLocks noChangeAspect="1"/>
          </p:cNvPicPr>
          <p:nvPr/>
        </p:nvPicPr>
        <p:blipFill>
          <a:blip r:embed="rId3"/>
          <a:stretch>
            <a:fillRect/>
          </a:stretch>
        </p:blipFill>
        <p:spPr>
          <a:xfrm>
            <a:off x="7905865" y="2505075"/>
            <a:ext cx="2731848" cy="3272252"/>
          </a:xfrm>
          <a:prstGeom prst="rect">
            <a:avLst/>
          </a:prstGeom>
        </p:spPr>
      </p:pic>
      <p:pic>
        <p:nvPicPr>
          <p:cNvPr id="11" name="Picture 10">
            <a:extLst>
              <a:ext uri="{FF2B5EF4-FFF2-40B4-BE49-F238E27FC236}">
                <a16:creationId xmlns:a16="http://schemas.microsoft.com/office/drawing/2014/main" id="{FC7AE76C-1407-F4C2-378E-4C53F5FA65B1}"/>
              </a:ext>
            </a:extLst>
          </p:cNvPr>
          <p:cNvPicPr>
            <a:picLocks noChangeAspect="1"/>
          </p:cNvPicPr>
          <p:nvPr/>
        </p:nvPicPr>
        <p:blipFill>
          <a:blip r:embed="rId4"/>
          <a:stretch>
            <a:fillRect/>
          </a:stretch>
        </p:blipFill>
        <p:spPr>
          <a:xfrm>
            <a:off x="758283" y="2632310"/>
            <a:ext cx="3971033" cy="1910193"/>
          </a:xfrm>
          <a:prstGeom prst="rect">
            <a:avLst/>
          </a:prstGeom>
        </p:spPr>
      </p:pic>
    </p:spTree>
    <p:extLst>
      <p:ext uri="{BB962C8B-B14F-4D97-AF65-F5344CB8AC3E}">
        <p14:creationId xmlns:p14="http://schemas.microsoft.com/office/powerpoint/2010/main" val="2568710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78A00-A7E5-C62C-0A85-E6F669F8599B}"/>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4. LEAVE AND ABSENCE PATTERNS</a:t>
            </a:r>
            <a:br>
              <a:rPr lang="en-US" sz="3000" b="1" dirty="0">
                <a:latin typeface="Times New Roman" panose="02020603050405020304" pitchFamily="18" charset="0"/>
                <a:cs typeface="Times New Roman" panose="02020603050405020304" pitchFamily="18" charset="0"/>
              </a:rPr>
            </a:br>
            <a:r>
              <a:rPr lang="en-US" sz="3000" b="1" dirty="0">
                <a:latin typeface="Times New Roman" panose="02020603050405020304" pitchFamily="18" charset="0"/>
                <a:cs typeface="Times New Roman" panose="02020603050405020304" pitchFamily="18" charset="0"/>
              </a:rPr>
              <a:t>Which year had the most employees taking leaves?</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9CF0AAE-F407-71BA-AE5F-EA9049B4DF19}"/>
              </a:ext>
            </a:extLst>
          </p:cNvPr>
          <p:cNvSpPr>
            <a:spLocks noGrp="1"/>
          </p:cNvSpPr>
          <p:nvPr>
            <p:ph type="body" idx="1"/>
          </p:nvPr>
        </p:nvSpPr>
        <p:spPr/>
        <p:txBody>
          <a:bodyPr/>
          <a:lstStyle/>
          <a:p>
            <a:r>
              <a:rPr lang="en-IN" dirty="0"/>
              <a:t>Query</a:t>
            </a:r>
          </a:p>
        </p:txBody>
      </p:sp>
      <p:sp>
        <p:nvSpPr>
          <p:cNvPr id="4" name="Text Placeholder 3">
            <a:extLst>
              <a:ext uri="{FF2B5EF4-FFF2-40B4-BE49-F238E27FC236}">
                <a16:creationId xmlns:a16="http://schemas.microsoft.com/office/drawing/2014/main" id="{A052A7A7-6357-5772-24AB-8EF83FC40AA3}"/>
              </a:ext>
            </a:extLst>
          </p:cNvPr>
          <p:cNvSpPr>
            <a:spLocks noGrp="1"/>
          </p:cNvSpPr>
          <p:nvPr>
            <p:ph type="body" idx="2"/>
          </p:nvPr>
        </p:nvSpPr>
        <p:spPr>
          <a:xfrm>
            <a:off x="839788" y="2505075"/>
            <a:ext cx="3476573"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0304FCAD-7109-F226-F552-6DD9535E895C}"/>
              </a:ext>
            </a:extLst>
          </p:cNvPr>
          <p:cNvSpPr>
            <a:spLocks noGrp="1"/>
          </p:cNvSpPr>
          <p:nvPr>
            <p:ph type="body" idx="3"/>
          </p:nvPr>
        </p:nvSpPr>
        <p:spPr/>
        <p:txBody>
          <a:bodyPr/>
          <a:lstStyle/>
          <a:p>
            <a:r>
              <a:rPr lang="en-IN" dirty="0"/>
              <a:t>Output</a:t>
            </a:r>
          </a:p>
        </p:txBody>
      </p:sp>
      <p:sp>
        <p:nvSpPr>
          <p:cNvPr id="6" name="Text Placeholder 5">
            <a:extLst>
              <a:ext uri="{FF2B5EF4-FFF2-40B4-BE49-F238E27FC236}">
                <a16:creationId xmlns:a16="http://schemas.microsoft.com/office/drawing/2014/main" id="{9EDCC043-E59A-184B-B8AC-1036D2F32200}"/>
              </a:ext>
            </a:extLst>
          </p:cNvPr>
          <p:cNvSpPr>
            <a:spLocks noGrp="1"/>
          </p:cNvSpPr>
          <p:nvPr>
            <p:ph type="body" idx="4"/>
          </p:nvPr>
        </p:nvSpPr>
        <p:spPr>
          <a:xfrm>
            <a:off x="4795683" y="2502924"/>
            <a:ext cx="5183188" cy="3684588"/>
          </a:xfrm>
        </p:spPr>
        <p:txBody>
          <a:bodyPr/>
          <a:lstStyle/>
          <a:p>
            <a:pPr marL="114300" indent="0">
              <a:buNone/>
            </a:pPr>
            <a:endParaRPr lang="en-IN" dirty="0"/>
          </a:p>
        </p:txBody>
      </p:sp>
      <p:pic>
        <p:nvPicPr>
          <p:cNvPr id="12" name="Picture 11" descr="A close up of a text&#10;&#10;AI-generated content may be incorrect.">
            <a:extLst>
              <a:ext uri="{FF2B5EF4-FFF2-40B4-BE49-F238E27FC236}">
                <a16:creationId xmlns:a16="http://schemas.microsoft.com/office/drawing/2014/main" id="{382CD273-B70A-8AA6-0897-EB3EC6594800}"/>
              </a:ext>
            </a:extLst>
          </p:cNvPr>
          <p:cNvPicPr>
            <a:picLocks noChangeAspect="1"/>
          </p:cNvPicPr>
          <p:nvPr/>
        </p:nvPicPr>
        <p:blipFill>
          <a:blip r:embed="rId2"/>
          <a:stretch>
            <a:fillRect/>
          </a:stretch>
        </p:blipFill>
        <p:spPr>
          <a:xfrm>
            <a:off x="4836428" y="2502924"/>
            <a:ext cx="3285018" cy="1362094"/>
          </a:xfrm>
          <a:prstGeom prst="rect">
            <a:avLst/>
          </a:prstGeom>
        </p:spPr>
      </p:pic>
      <p:pic>
        <p:nvPicPr>
          <p:cNvPr id="9" name="Picture 8">
            <a:extLst>
              <a:ext uri="{FF2B5EF4-FFF2-40B4-BE49-F238E27FC236}">
                <a16:creationId xmlns:a16="http://schemas.microsoft.com/office/drawing/2014/main" id="{80CDC2BA-453C-6647-3486-C83C648B642A}"/>
              </a:ext>
            </a:extLst>
          </p:cNvPr>
          <p:cNvPicPr>
            <a:picLocks noChangeAspect="1"/>
          </p:cNvPicPr>
          <p:nvPr/>
        </p:nvPicPr>
        <p:blipFill>
          <a:blip r:embed="rId3"/>
          <a:stretch>
            <a:fillRect/>
          </a:stretch>
        </p:blipFill>
        <p:spPr>
          <a:xfrm>
            <a:off x="839788" y="2537383"/>
            <a:ext cx="3475021" cy="1670823"/>
          </a:xfrm>
          <a:prstGeom prst="rect">
            <a:avLst/>
          </a:prstGeom>
        </p:spPr>
      </p:pic>
      <p:pic>
        <p:nvPicPr>
          <p:cNvPr id="10" name="Picture 9">
            <a:extLst>
              <a:ext uri="{FF2B5EF4-FFF2-40B4-BE49-F238E27FC236}">
                <a16:creationId xmlns:a16="http://schemas.microsoft.com/office/drawing/2014/main" id="{7006B802-8C47-9E50-B436-8EA8482B96CD}"/>
              </a:ext>
            </a:extLst>
          </p:cNvPr>
          <p:cNvPicPr>
            <a:picLocks noChangeAspect="1"/>
          </p:cNvPicPr>
          <p:nvPr/>
        </p:nvPicPr>
        <p:blipFill>
          <a:blip r:embed="rId4"/>
          <a:stretch>
            <a:fillRect/>
          </a:stretch>
        </p:blipFill>
        <p:spPr>
          <a:xfrm>
            <a:off x="7935530" y="2623799"/>
            <a:ext cx="3702240" cy="3168813"/>
          </a:xfrm>
          <a:prstGeom prst="rect">
            <a:avLst/>
          </a:prstGeom>
        </p:spPr>
      </p:pic>
    </p:spTree>
    <p:extLst>
      <p:ext uri="{BB962C8B-B14F-4D97-AF65-F5344CB8AC3E}">
        <p14:creationId xmlns:p14="http://schemas.microsoft.com/office/powerpoint/2010/main" val="3925454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681E7-58BF-2FF7-CC6E-683889A8BFB1}"/>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What is the average number of leave days taken by its employees per department?</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D22F441-DD30-303C-5DDB-6E74560C8FE1}"/>
              </a:ext>
            </a:extLst>
          </p:cNvPr>
          <p:cNvSpPr>
            <a:spLocks noGrp="1"/>
          </p:cNvSpPr>
          <p:nvPr>
            <p:ph type="body" idx="1"/>
          </p:nvPr>
        </p:nvSpPr>
        <p:spPr/>
        <p:txBody>
          <a:bodyPr/>
          <a:lstStyle/>
          <a:p>
            <a:r>
              <a:rPr lang="en-IN" dirty="0"/>
              <a:t>Query</a:t>
            </a:r>
          </a:p>
        </p:txBody>
      </p:sp>
      <p:sp>
        <p:nvSpPr>
          <p:cNvPr id="4" name="Text Placeholder 3">
            <a:extLst>
              <a:ext uri="{FF2B5EF4-FFF2-40B4-BE49-F238E27FC236}">
                <a16:creationId xmlns:a16="http://schemas.microsoft.com/office/drawing/2014/main" id="{85E5A41A-AA68-738F-FE52-388ECE8BFEFF}"/>
              </a:ext>
            </a:extLst>
          </p:cNvPr>
          <p:cNvSpPr>
            <a:spLocks noGrp="1"/>
          </p:cNvSpPr>
          <p:nvPr>
            <p:ph type="body" idx="2"/>
          </p:nvPr>
        </p:nvSpPr>
        <p:spPr>
          <a:xfrm>
            <a:off x="839789" y="2505075"/>
            <a:ext cx="4142702"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4478D47B-493A-DE5A-ADB9-5C7A13493470}"/>
              </a:ext>
            </a:extLst>
          </p:cNvPr>
          <p:cNvSpPr>
            <a:spLocks noGrp="1"/>
          </p:cNvSpPr>
          <p:nvPr>
            <p:ph type="body" idx="3"/>
          </p:nvPr>
        </p:nvSpPr>
        <p:spPr>
          <a:xfrm>
            <a:off x="5011885" y="1596635"/>
            <a:ext cx="5183188" cy="823912"/>
          </a:xfrm>
        </p:spPr>
        <p:txBody>
          <a:bodyPr/>
          <a:lstStyle/>
          <a:p>
            <a:r>
              <a:rPr lang="en-IN" dirty="0"/>
              <a:t>Output</a:t>
            </a:r>
          </a:p>
        </p:txBody>
      </p:sp>
      <p:sp>
        <p:nvSpPr>
          <p:cNvPr id="6" name="Text Placeholder 5">
            <a:extLst>
              <a:ext uri="{FF2B5EF4-FFF2-40B4-BE49-F238E27FC236}">
                <a16:creationId xmlns:a16="http://schemas.microsoft.com/office/drawing/2014/main" id="{C45EAFE8-F316-316D-6843-958769E385BD}"/>
              </a:ext>
            </a:extLst>
          </p:cNvPr>
          <p:cNvSpPr>
            <a:spLocks noGrp="1"/>
          </p:cNvSpPr>
          <p:nvPr>
            <p:ph type="body" idx="4"/>
          </p:nvPr>
        </p:nvSpPr>
        <p:spPr>
          <a:xfrm>
            <a:off x="5306961" y="2440741"/>
            <a:ext cx="5183188" cy="3684588"/>
          </a:xfrm>
        </p:spPr>
        <p:txBody>
          <a:bodyPr/>
          <a:lstStyle/>
          <a:p>
            <a:pPr marL="114300" indent="0">
              <a:buNone/>
            </a:pPr>
            <a:endParaRPr lang="en-IN" dirty="0"/>
          </a:p>
        </p:txBody>
      </p:sp>
      <p:pic>
        <p:nvPicPr>
          <p:cNvPr id="10" name="Picture 9" descr="A computer code with text&#10;&#10;AI-generated content may be incorrect.">
            <a:extLst>
              <a:ext uri="{FF2B5EF4-FFF2-40B4-BE49-F238E27FC236}">
                <a16:creationId xmlns:a16="http://schemas.microsoft.com/office/drawing/2014/main" id="{5CA292D4-15E9-F3A6-1438-FCF0C90DE7E7}"/>
              </a:ext>
            </a:extLst>
          </p:cNvPr>
          <p:cNvPicPr>
            <a:picLocks noChangeAspect="1"/>
          </p:cNvPicPr>
          <p:nvPr/>
        </p:nvPicPr>
        <p:blipFill>
          <a:blip r:embed="rId2"/>
          <a:stretch>
            <a:fillRect/>
          </a:stretch>
        </p:blipFill>
        <p:spPr>
          <a:xfrm>
            <a:off x="836613" y="2694568"/>
            <a:ext cx="3810000" cy="2131432"/>
          </a:xfrm>
          <a:prstGeom prst="rect">
            <a:avLst/>
          </a:prstGeom>
        </p:spPr>
      </p:pic>
      <p:pic>
        <p:nvPicPr>
          <p:cNvPr id="12" name="Picture 11" descr="A table with numbers and text&#10;&#10;AI-generated content may be incorrect.">
            <a:extLst>
              <a:ext uri="{FF2B5EF4-FFF2-40B4-BE49-F238E27FC236}">
                <a16:creationId xmlns:a16="http://schemas.microsoft.com/office/drawing/2014/main" id="{E3967F5C-2910-134F-3226-C7E212D54AE7}"/>
              </a:ext>
            </a:extLst>
          </p:cNvPr>
          <p:cNvPicPr>
            <a:picLocks noChangeAspect="1"/>
          </p:cNvPicPr>
          <p:nvPr/>
        </p:nvPicPr>
        <p:blipFill>
          <a:blip r:embed="rId3"/>
          <a:stretch>
            <a:fillRect/>
          </a:stretch>
        </p:blipFill>
        <p:spPr>
          <a:xfrm>
            <a:off x="5416698" y="2525269"/>
            <a:ext cx="2980050" cy="3005056"/>
          </a:xfrm>
          <a:prstGeom prst="rect">
            <a:avLst/>
          </a:prstGeom>
        </p:spPr>
      </p:pic>
      <p:pic>
        <p:nvPicPr>
          <p:cNvPr id="9" name="Picture 8">
            <a:extLst>
              <a:ext uri="{FF2B5EF4-FFF2-40B4-BE49-F238E27FC236}">
                <a16:creationId xmlns:a16="http://schemas.microsoft.com/office/drawing/2014/main" id="{2C0E4967-3EF3-5CCC-6B28-E1A5FB803046}"/>
              </a:ext>
            </a:extLst>
          </p:cNvPr>
          <p:cNvPicPr>
            <a:picLocks noChangeAspect="1"/>
          </p:cNvPicPr>
          <p:nvPr/>
        </p:nvPicPr>
        <p:blipFill>
          <a:blip r:embed="rId4"/>
          <a:stretch>
            <a:fillRect/>
          </a:stretch>
        </p:blipFill>
        <p:spPr>
          <a:xfrm>
            <a:off x="8506485" y="2420547"/>
            <a:ext cx="3061226" cy="3668325"/>
          </a:xfrm>
          <a:prstGeom prst="rect">
            <a:avLst/>
          </a:prstGeom>
        </p:spPr>
      </p:pic>
    </p:spTree>
    <p:extLst>
      <p:ext uri="{BB962C8B-B14F-4D97-AF65-F5344CB8AC3E}">
        <p14:creationId xmlns:p14="http://schemas.microsoft.com/office/powerpoint/2010/main" val="1498862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5503C-0870-4E66-8F4B-ED6A6AEF5414}"/>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Which employees have taken the most leaves?</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6B192AF-CEB8-E876-6937-75D06D9D2454}"/>
              </a:ext>
            </a:extLst>
          </p:cNvPr>
          <p:cNvSpPr>
            <a:spLocks noGrp="1"/>
          </p:cNvSpPr>
          <p:nvPr>
            <p:ph type="body" idx="1"/>
          </p:nvPr>
        </p:nvSpPr>
        <p:spPr/>
        <p:txBody>
          <a:bodyPr/>
          <a:lstStyle/>
          <a:p>
            <a:r>
              <a:rPr lang="en-IN" dirty="0"/>
              <a:t>Query</a:t>
            </a:r>
          </a:p>
        </p:txBody>
      </p:sp>
      <p:sp>
        <p:nvSpPr>
          <p:cNvPr id="4" name="Text Placeholder 3">
            <a:extLst>
              <a:ext uri="{FF2B5EF4-FFF2-40B4-BE49-F238E27FC236}">
                <a16:creationId xmlns:a16="http://schemas.microsoft.com/office/drawing/2014/main" id="{73ECBFAC-AFC4-9BF5-37AA-C2B613E1180C}"/>
              </a:ext>
            </a:extLst>
          </p:cNvPr>
          <p:cNvSpPr>
            <a:spLocks noGrp="1"/>
          </p:cNvSpPr>
          <p:nvPr>
            <p:ph type="body" idx="2"/>
          </p:nvPr>
        </p:nvSpPr>
        <p:spPr>
          <a:xfrm>
            <a:off x="839789" y="2505075"/>
            <a:ext cx="4372405"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17329EBD-836D-5347-EB7F-B41CA924B850}"/>
              </a:ext>
            </a:extLst>
          </p:cNvPr>
          <p:cNvSpPr>
            <a:spLocks noGrp="1"/>
          </p:cNvSpPr>
          <p:nvPr>
            <p:ph type="body" idx="3"/>
          </p:nvPr>
        </p:nvSpPr>
        <p:spPr>
          <a:xfrm>
            <a:off x="5713412" y="1665443"/>
            <a:ext cx="5183188" cy="823912"/>
          </a:xfrm>
        </p:spPr>
        <p:txBody>
          <a:bodyPr/>
          <a:lstStyle/>
          <a:p>
            <a:r>
              <a:rPr lang="en-IN" dirty="0"/>
              <a:t>Output</a:t>
            </a:r>
          </a:p>
        </p:txBody>
      </p:sp>
      <p:sp>
        <p:nvSpPr>
          <p:cNvPr id="6" name="Text Placeholder 5">
            <a:extLst>
              <a:ext uri="{FF2B5EF4-FFF2-40B4-BE49-F238E27FC236}">
                <a16:creationId xmlns:a16="http://schemas.microsoft.com/office/drawing/2014/main" id="{5ADA0E48-7474-E6B6-4CBE-F015946F278B}"/>
              </a:ext>
            </a:extLst>
          </p:cNvPr>
          <p:cNvSpPr>
            <a:spLocks noGrp="1"/>
          </p:cNvSpPr>
          <p:nvPr>
            <p:ph type="body" idx="4"/>
          </p:nvPr>
        </p:nvSpPr>
        <p:spPr>
          <a:xfrm>
            <a:off x="5364162" y="2489355"/>
            <a:ext cx="3721797" cy="3684588"/>
          </a:xfrm>
        </p:spPr>
        <p:txBody>
          <a:bodyPr/>
          <a:lstStyle/>
          <a:p>
            <a:pPr marL="114300" indent="0">
              <a:buNone/>
            </a:pPr>
            <a:endParaRPr lang="en-IN" dirty="0"/>
          </a:p>
        </p:txBody>
      </p:sp>
      <p:pic>
        <p:nvPicPr>
          <p:cNvPr id="12" name="Picture 11">
            <a:extLst>
              <a:ext uri="{FF2B5EF4-FFF2-40B4-BE49-F238E27FC236}">
                <a16:creationId xmlns:a16="http://schemas.microsoft.com/office/drawing/2014/main" id="{6D8AA449-E7FD-FA47-A3D5-B201936D6A74}"/>
              </a:ext>
            </a:extLst>
          </p:cNvPr>
          <p:cNvPicPr>
            <a:picLocks noChangeAspect="1"/>
          </p:cNvPicPr>
          <p:nvPr/>
        </p:nvPicPr>
        <p:blipFill>
          <a:blip r:embed="rId2"/>
          <a:stretch>
            <a:fillRect/>
          </a:stretch>
        </p:blipFill>
        <p:spPr>
          <a:xfrm>
            <a:off x="914001" y="2567498"/>
            <a:ext cx="3923470" cy="2338799"/>
          </a:xfrm>
          <a:prstGeom prst="rect">
            <a:avLst/>
          </a:prstGeom>
        </p:spPr>
      </p:pic>
      <p:pic>
        <p:nvPicPr>
          <p:cNvPr id="14" name="Picture 13">
            <a:extLst>
              <a:ext uri="{FF2B5EF4-FFF2-40B4-BE49-F238E27FC236}">
                <a16:creationId xmlns:a16="http://schemas.microsoft.com/office/drawing/2014/main" id="{DC50BACE-7279-29C6-2C2C-5F2866459800}"/>
              </a:ext>
            </a:extLst>
          </p:cNvPr>
          <p:cNvPicPr>
            <a:picLocks noChangeAspect="1"/>
          </p:cNvPicPr>
          <p:nvPr/>
        </p:nvPicPr>
        <p:blipFill>
          <a:blip r:embed="rId3"/>
          <a:stretch>
            <a:fillRect/>
          </a:stretch>
        </p:blipFill>
        <p:spPr>
          <a:xfrm>
            <a:off x="5451423" y="2533411"/>
            <a:ext cx="2710324" cy="2982486"/>
          </a:xfrm>
          <a:prstGeom prst="rect">
            <a:avLst/>
          </a:prstGeom>
        </p:spPr>
      </p:pic>
      <p:pic>
        <p:nvPicPr>
          <p:cNvPr id="8" name="Picture 7">
            <a:extLst>
              <a:ext uri="{FF2B5EF4-FFF2-40B4-BE49-F238E27FC236}">
                <a16:creationId xmlns:a16="http://schemas.microsoft.com/office/drawing/2014/main" id="{F5559BE0-1A1C-8D14-781B-2A55614433A1}"/>
              </a:ext>
            </a:extLst>
          </p:cNvPr>
          <p:cNvPicPr>
            <a:picLocks noChangeAspect="1"/>
          </p:cNvPicPr>
          <p:nvPr/>
        </p:nvPicPr>
        <p:blipFill>
          <a:blip r:embed="rId4"/>
          <a:stretch>
            <a:fillRect/>
          </a:stretch>
        </p:blipFill>
        <p:spPr>
          <a:xfrm>
            <a:off x="8249008" y="2567498"/>
            <a:ext cx="3340272" cy="2948399"/>
          </a:xfrm>
          <a:prstGeom prst="rect">
            <a:avLst/>
          </a:prstGeom>
        </p:spPr>
      </p:pic>
    </p:spTree>
    <p:extLst>
      <p:ext uri="{BB962C8B-B14F-4D97-AF65-F5344CB8AC3E}">
        <p14:creationId xmlns:p14="http://schemas.microsoft.com/office/powerpoint/2010/main" val="3055244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83046-A198-A2D2-0075-44AF2E5D73C0}"/>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What is the total number of leave days taken company-wide?</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C19C129-7AA5-0484-06C4-4CF60C8AB489}"/>
              </a:ext>
            </a:extLst>
          </p:cNvPr>
          <p:cNvSpPr>
            <a:spLocks noGrp="1"/>
          </p:cNvSpPr>
          <p:nvPr>
            <p:ph type="body" idx="1"/>
          </p:nvPr>
        </p:nvSpPr>
        <p:spPr/>
        <p:txBody>
          <a:bodyPr/>
          <a:lstStyle/>
          <a:p>
            <a:r>
              <a:rPr lang="en-IN" dirty="0"/>
              <a:t>Query</a:t>
            </a:r>
          </a:p>
        </p:txBody>
      </p:sp>
      <p:sp>
        <p:nvSpPr>
          <p:cNvPr id="4" name="Text Placeholder 3">
            <a:extLst>
              <a:ext uri="{FF2B5EF4-FFF2-40B4-BE49-F238E27FC236}">
                <a16:creationId xmlns:a16="http://schemas.microsoft.com/office/drawing/2014/main" id="{F5493B55-C1A3-62BE-5FB3-7093DAEAC694}"/>
              </a:ext>
            </a:extLst>
          </p:cNvPr>
          <p:cNvSpPr>
            <a:spLocks noGrp="1"/>
          </p:cNvSpPr>
          <p:nvPr>
            <p:ph type="body" idx="2"/>
          </p:nvPr>
        </p:nvSpPr>
        <p:spPr>
          <a:xfrm>
            <a:off x="839789" y="2505075"/>
            <a:ext cx="3289760"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A1EC0DA8-2CAC-9DD3-5BFD-4A93CC7436F6}"/>
              </a:ext>
            </a:extLst>
          </p:cNvPr>
          <p:cNvSpPr>
            <a:spLocks noGrp="1"/>
          </p:cNvSpPr>
          <p:nvPr>
            <p:ph type="body" idx="3"/>
          </p:nvPr>
        </p:nvSpPr>
        <p:spPr>
          <a:xfrm>
            <a:off x="4453454" y="1668720"/>
            <a:ext cx="5183188" cy="823912"/>
          </a:xfrm>
        </p:spPr>
        <p:txBody>
          <a:bodyPr/>
          <a:lstStyle/>
          <a:p>
            <a:r>
              <a:rPr lang="en-IN" dirty="0"/>
              <a:t>Output</a:t>
            </a:r>
          </a:p>
        </p:txBody>
      </p:sp>
      <p:sp>
        <p:nvSpPr>
          <p:cNvPr id="6" name="Text Placeholder 5">
            <a:extLst>
              <a:ext uri="{FF2B5EF4-FFF2-40B4-BE49-F238E27FC236}">
                <a16:creationId xmlns:a16="http://schemas.microsoft.com/office/drawing/2014/main" id="{A4E03C0B-614C-D0B5-90D7-311CB9409B42}"/>
              </a:ext>
            </a:extLst>
          </p:cNvPr>
          <p:cNvSpPr>
            <a:spLocks noGrp="1"/>
          </p:cNvSpPr>
          <p:nvPr>
            <p:ph type="body" idx="4"/>
          </p:nvPr>
        </p:nvSpPr>
        <p:spPr>
          <a:xfrm>
            <a:off x="4427307" y="2493092"/>
            <a:ext cx="5183188" cy="3684588"/>
          </a:xfrm>
        </p:spPr>
        <p:txBody>
          <a:bodyPr/>
          <a:lstStyle/>
          <a:p>
            <a:pPr marL="114300" indent="0">
              <a:buNone/>
            </a:pPr>
            <a:endParaRPr lang="en-IN" dirty="0"/>
          </a:p>
        </p:txBody>
      </p:sp>
      <p:pic>
        <p:nvPicPr>
          <p:cNvPr id="13" name="Picture 12">
            <a:extLst>
              <a:ext uri="{FF2B5EF4-FFF2-40B4-BE49-F238E27FC236}">
                <a16:creationId xmlns:a16="http://schemas.microsoft.com/office/drawing/2014/main" id="{8AA984CB-A487-D252-1FAE-2FE5FBF336CB}"/>
              </a:ext>
            </a:extLst>
          </p:cNvPr>
          <p:cNvPicPr>
            <a:picLocks noChangeAspect="1"/>
          </p:cNvPicPr>
          <p:nvPr/>
        </p:nvPicPr>
        <p:blipFill>
          <a:blip r:embed="rId2"/>
          <a:stretch>
            <a:fillRect/>
          </a:stretch>
        </p:blipFill>
        <p:spPr>
          <a:xfrm>
            <a:off x="4582659" y="2626432"/>
            <a:ext cx="2447406" cy="923013"/>
          </a:xfrm>
          <a:prstGeom prst="rect">
            <a:avLst/>
          </a:prstGeom>
        </p:spPr>
      </p:pic>
      <p:pic>
        <p:nvPicPr>
          <p:cNvPr id="8" name="Picture 7">
            <a:extLst>
              <a:ext uri="{FF2B5EF4-FFF2-40B4-BE49-F238E27FC236}">
                <a16:creationId xmlns:a16="http://schemas.microsoft.com/office/drawing/2014/main" id="{B3706923-5216-A246-9F9B-E7A1E971D210}"/>
              </a:ext>
            </a:extLst>
          </p:cNvPr>
          <p:cNvPicPr>
            <a:picLocks noChangeAspect="1"/>
          </p:cNvPicPr>
          <p:nvPr/>
        </p:nvPicPr>
        <p:blipFill>
          <a:blip r:embed="rId3"/>
          <a:stretch>
            <a:fillRect/>
          </a:stretch>
        </p:blipFill>
        <p:spPr>
          <a:xfrm>
            <a:off x="813642" y="2580305"/>
            <a:ext cx="3289760" cy="1490250"/>
          </a:xfrm>
          <a:prstGeom prst="rect">
            <a:avLst/>
          </a:prstGeom>
        </p:spPr>
      </p:pic>
      <p:pic>
        <p:nvPicPr>
          <p:cNvPr id="12" name="Picture 11">
            <a:extLst>
              <a:ext uri="{FF2B5EF4-FFF2-40B4-BE49-F238E27FC236}">
                <a16:creationId xmlns:a16="http://schemas.microsoft.com/office/drawing/2014/main" id="{D9A4679E-35C9-1C43-609A-0B7C7DB883D2}"/>
              </a:ext>
            </a:extLst>
          </p:cNvPr>
          <p:cNvPicPr>
            <a:picLocks noChangeAspect="1"/>
          </p:cNvPicPr>
          <p:nvPr/>
        </p:nvPicPr>
        <p:blipFill>
          <a:blip r:embed="rId4"/>
          <a:stretch>
            <a:fillRect/>
          </a:stretch>
        </p:blipFill>
        <p:spPr>
          <a:xfrm>
            <a:off x="7606901" y="2723538"/>
            <a:ext cx="3661290" cy="3223696"/>
          </a:xfrm>
          <a:prstGeom prst="rect">
            <a:avLst/>
          </a:prstGeom>
        </p:spPr>
      </p:pic>
    </p:spTree>
    <p:extLst>
      <p:ext uri="{BB962C8B-B14F-4D97-AF65-F5344CB8AC3E}">
        <p14:creationId xmlns:p14="http://schemas.microsoft.com/office/powerpoint/2010/main" val="101016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505E5-8EC0-C775-EEDD-0E1D87A9FCD2}"/>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 How do leave days correlate with payroll amounts?</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9AD5368-EFA0-542B-D3F9-2CCC6DB483F4}"/>
              </a:ext>
            </a:extLst>
          </p:cNvPr>
          <p:cNvSpPr>
            <a:spLocks noGrp="1"/>
          </p:cNvSpPr>
          <p:nvPr>
            <p:ph type="body" idx="1"/>
          </p:nvPr>
        </p:nvSpPr>
        <p:spPr/>
        <p:txBody>
          <a:bodyPr/>
          <a:lstStyle/>
          <a:p>
            <a:r>
              <a:rPr lang="en-IN" dirty="0"/>
              <a:t>Query</a:t>
            </a:r>
          </a:p>
        </p:txBody>
      </p:sp>
      <p:sp>
        <p:nvSpPr>
          <p:cNvPr id="4" name="Text Placeholder 3">
            <a:extLst>
              <a:ext uri="{FF2B5EF4-FFF2-40B4-BE49-F238E27FC236}">
                <a16:creationId xmlns:a16="http://schemas.microsoft.com/office/drawing/2014/main" id="{B5D4EBD8-89C8-CF09-5FFE-5D5DE7093AA9}"/>
              </a:ext>
            </a:extLst>
          </p:cNvPr>
          <p:cNvSpPr>
            <a:spLocks noGrp="1"/>
          </p:cNvSpPr>
          <p:nvPr>
            <p:ph type="body" idx="2"/>
          </p:nvPr>
        </p:nvSpPr>
        <p:spPr>
          <a:xfrm>
            <a:off x="839789" y="2505075"/>
            <a:ext cx="3813400"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111FEA64-1A66-823B-C33E-1C1111A4BE21}"/>
              </a:ext>
            </a:extLst>
          </p:cNvPr>
          <p:cNvSpPr>
            <a:spLocks noGrp="1"/>
          </p:cNvSpPr>
          <p:nvPr>
            <p:ph type="body" idx="3"/>
          </p:nvPr>
        </p:nvSpPr>
        <p:spPr>
          <a:xfrm>
            <a:off x="4947219" y="1690688"/>
            <a:ext cx="5183188" cy="823912"/>
          </a:xfrm>
        </p:spPr>
        <p:txBody>
          <a:bodyPr/>
          <a:lstStyle/>
          <a:p>
            <a:r>
              <a:rPr lang="en-IN" dirty="0"/>
              <a:t>Output</a:t>
            </a:r>
          </a:p>
        </p:txBody>
      </p:sp>
      <p:sp>
        <p:nvSpPr>
          <p:cNvPr id="6" name="Text Placeholder 5">
            <a:extLst>
              <a:ext uri="{FF2B5EF4-FFF2-40B4-BE49-F238E27FC236}">
                <a16:creationId xmlns:a16="http://schemas.microsoft.com/office/drawing/2014/main" id="{307FA5A5-4388-67DA-BCFA-1A498785158D}"/>
              </a:ext>
            </a:extLst>
          </p:cNvPr>
          <p:cNvSpPr>
            <a:spLocks noGrp="1"/>
          </p:cNvSpPr>
          <p:nvPr>
            <p:ph type="body" idx="4"/>
          </p:nvPr>
        </p:nvSpPr>
        <p:spPr>
          <a:xfrm>
            <a:off x="4885189" y="2505075"/>
            <a:ext cx="5183188" cy="3684588"/>
          </a:xfrm>
        </p:spPr>
        <p:txBody>
          <a:bodyPr/>
          <a:lstStyle/>
          <a:p>
            <a:pPr marL="114300" indent="0">
              <a:buNone/>
            </a:pPr>
            <a:endParaRPr lang="en-IN" dirty="0"/>
          </a:p>
        </p:txBody>
      </p:sp>
      <p:pic>
        <p:nvPicPr>
          <p:cNvPr id="8" name="Picture 7" descr="A screenshot of a computer code&#10;&#10;AI-generated content may be incorrect.">
            <a:extLst>
              <a:ext uri="{FF2B5EF4-FFF2-40B4-BE49-F238E27FC236}">
                <a16:creationId xmlns:a16="http://schemas.microsoft.com/office/drawing/2014/main" id="{3707AF67-56D6-B8D2-BCAF-D3B52C4BD715}"/>
              </a:ext>
            </a:extLst>
          </p:cNvPr>
          <p:cNvPicPr>
            <a:picLocks noChangeAspect="1"/>
          </p:cNvPicPr>
          <p:nvPr/>
        </p:nvPicPr>
        <p:blipFill>
          <a:blip r:embed="rId3"/>
          <a:stretch>
            <a:fillRect/>
          </a:stretch>
        </p:blipFill>
        <p:spPr>
          <a:xfrm>
            <a:off x="1071789" y="2622171"/>
            <a:ext cx="3283901" cy="2554666"/>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AEE081D2-1D77-33FC-CDF2-4A7B611C82D2}"/>
              </a:ext>
            </a:extLst>
          </p:cNvPr>
          <p:cNvPicPr>
            <a:picLocks noChangeAspect="1"/>
          </p:cNvPicPr>
          <p:nvPr/>
        </p:nvPicPr>
        <p:blipFill>
          <a:blip r:embed="rId4"/>
          <a:stretch>
            <a:fillRect/>
          </a:stretch>
        </p:blipFill>
        <p:spPr>
          <a:xfrm>
            <a:off x="4947219" y="2524125"/>
            <a:ext cx="2853736" cy="3058546"/>
          </a:xfrm>
          <a:prstGeom prst="rect">
            <a:avLst/>
          </a:prstGeom>
        </p:spPr>
      </p:pic>
      <p:pic>
        <p:nvPicPr>
          <p:cNvPr id="13" name="Picture 12">
            <a:extLst>
              <a:ext uri="{FF2B5EF4-FFF2-40B4-BE49-F238E27FC236}">
                <a16:creationId xmlns:a16="http://schemas.microsoft.com/office/drawing/2014/main" id="{40649837-D3E9-3F64-0B93-5F873F1F7015}"/>
              </a:ext>
            </a:extLst>
          </p:cNvPr>
          <p:cNvPicPr>
            <a:picLocks noChangeAspect="1"/>
          </p:cNvPicPr>
          <p:nvPr/>
        </p:nvPicPr>
        <p:blipFill>
          <a:blip r:embed="rId5"/>
          <a:stretch>
            <a:fillRect/>
          </a:stretch>
        </p:blipFill>
        <p:spPr>
          <a:xfrm>
            <a:off x="7878582" y="2505075"/>
            <a:ext cx="3473629" cy="2971953"/>
          </a:xfrm>
          <a:prstGeom prst="rect">
            <a:avLst/>
          </a:prstGeom>
        </p:spPr>
      </p:pic>
    </p:spTree>
    <p:extLst>
      <p:ext uri="{BB962C8B-B14F-4D97-AF65-F5344CB8AC3E}">
        <p14:creationId xmlns:p14="http://schemas.microsoft.com/office/powerpoint/2010/main" val="1177346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CDA3D-969D-AFAC-615B-B7E670CD9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8B319-E6BD-B6B2-FCF7-5C96A09067FB}"/>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Which year had the highest number of employee promotions?</a:t>
            </a:r>
            <a:endParaRPr lang="en-IN" sz="3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7477973-EFF8-EA0D-BFE8-E41F08E16D2B}"/>
              </a:ext>
            </a:extLst>
          </p:cNvPr>
          <p:cNvSpPr>
            <a:spLocks noGrp="1"/>
          </p:cNvSpPr>
          <p:nvPr>
            <p:ph type="body" idx="1"/>
          </p:nvPr>
        </p:nvSpPr>
        <p:spPr/>
        <p:txBody>
          <a:bodyPr/>
          <a:lstStyle/>
          <a:p>
            <a:r>
              <a:rPr lang="en-IN" dirty="0"/>
              <a:t>Query</a:t>
            </a:r>
          </a:p>
        </p:txBody>
      </p:sp>
      <p:sp>
        <p:nvSpPr>
          <p:cNvPr id="4" name="Text Placeholder 3">
            <a:extLst>
              <a:ext uri="{FF2B5EF4-FFF2-40B4-BE49-F238E27FC236}">
                <a16:creationId xmlns:a16="http://schemas.microsoft.com/office/drawing/2014/main" id="{EAB763CF-7DBE-A526-A8D0-4A3F50A98F49}"/>
              </a:ext>
            </a:extLst>
          </p:cNvPr>
          <p:cNvSpPr>
            <a:spLocks noGrp="1"/>
          </p:cNvSpPr>
          <p:nvPr>
            <p:ph type="body" idx="2"/>
          </p:nvPr>
        </p:nvSpPr>
        <p:spPr>
          <a:xfrm>
            <a:off x="839789" y="2505075"/>
            <a:ext cx="3813400" cy="3684588"/>
          </a:xfrm>
        </p:spPr>
        <p:txBody>
          <a:bodyPr/>
          <a:lstStyle/>
          <a:p>
            <a:pPr marL="114300" indent="0">
              <a:buNone/>
            </a:pPr>
            <a:endParaRPr lang="en-IN" dirty="0"/>
          </a:p>
        </p:txBody>
      </p:sp>
      <p:sp>
        <p:nvSpPr>
          <p:cNvPr id="5" name="Text Placeholder 4">
            <a:extLst>
              <a:ext uri="{FF2B5EF4-FFF2-40B4-BE49-F238E27FC236}">
                <a16:creationId xmlns:a16="http://schemas.microsoft.com/office/drawing/2014/main" id="{B8279A01-1BFC-1565-3D1F-D655F7DE977A}"/>
              </a:ext>
            </a:extLst>
          </p:cNvPr>
          <p:cNvSpPr>
            <a:spLocks noGrp="1"/>
          </p:cNvSpPr>
          <p:nvPr>
            <p:ph type="body" idx="3"/>
          </p:nvPr>
        </p:nvSpPr>
        <p:spPr>
          <a:xfrm>
            <a:off x="4947219" y="1690688"/>
            <a:ext cx="5183188" cy="823912"/>
          </a:xfrm>
        </p:spPr>
        <p:txBody>
          <a:bodyPr/>
          <a:lstStyle/>
          <a:p>
            <a:r>
              <a:rPr lang="en-IN" dirty="0"/>
              <a:t>Output</a:t>
            </a:r>
          </a:p>
        </p:txBody>
      </p:sp>
      <p:sp>
        <p:nvSpPr>
          <p:cNvPr id="6" name="Text Placeholder 5">
            <a:extLst>
              <a:ext uri="{FF2B5EF4-FFF2-40B4-BE49-F238E27FC236}">
                <a16:creationId xmlns:a16="http://schemas.microsoft.com/office/drawing/2014/main" id="{58A85417-D4E4-C97C-70C6-75F74B587E3C}"/>
              </a:ext>
            </a:extLst>
          </p:cNvPr>
          <p:cNvSpPr>
            <a:spLocks noGrp="1"/>
          </p:cNvSpPr>
          <p:nvPr>
            <p:ph type="body" idx="4"/>
          </p:nvPr>
        </p:nvSpPr>
        <p:spPr>
          <a:xfrm>
            <a:off x="4885189" y="2505075"/>
            <a:ext cx="5183188" cy="3684588"/>
          </a:xfrm>
        </p:spPr>
        <p:txBody>
          <a:bodyPr/>
          <a:lstStyle/>
          <a:p>
            <a:pPr marL="114300" indent="0">
              <a:buNone/>
            </a:pPr>
            <a:endParaRPr lang="en-IN" dirty="0"/>
          </a:p>
        </p:txBody>
      </p:sp>
      <p:pic>
        <p:nvPicPr>
          <p:cNvPr id="13" name="Picture 12">
            <a:extLst>
              <a:ext uri="{FF2B5EF4-FFF2-40B4-BE49-F238E27FC236}">
                <a16:creationId xmlns:a16="http://schemas.microsoft.com/office/drawing/2014/main" id="{3566A2B0-7D6F-8B59-0202-CD4C33173BDE}"/>
              </a:ext>
            </a:extLst>
          </p:cNvPr>
          <p:cNvPicPr>
            <a:picLocks noChangeAspect="1"/>
          </p:cNvPicPr>
          <p:nvPr/>
        </p:nvPicPr>
        <p:blipFill>
          <a:blip r:embed="rId2"/>
          <a:stretch>
            <a:fillRect/>
          </a:stretch>
        </p:blipFill>
        <p:spPr>
          <a:xfrm>
            <a:off x="4947219" y="2563188"/>
            <a:ext cx="2853736" cy="946928"/>
          </a:xfrm>
          <a:prstGeom prst="rect">
            <a:avLst/>
          </a:prstGeom>
        </p:spPr>
      </p:pic>
      <p:pic>
        <p:nvPicPr>
          <p:cNvPr id="17" name="Picture 16" descr="A cartoon of a person standing on a graph">
            <a:extLst>
              <a:ext uri="{FF2B5EF4-FFF2-40B4-BE49-F238E27FC236}">
                <a16:creationId xmlns:a16="http://schemas.microsoft.com/office/drawing/2014/main" id="{3453C55F-1614-AC0C-D94C-BEB9F7A9CB03}"/>
              </a:ext>
            </a:extLst>
          </p:cNvPr>
          <p:cNvPicPr>
            <a:picLocks noChangeAspect="1"/>
          </p:cNvPicPr>
          <p:nvPr/>
        </p:nvPicPr>
        <p:blipFill>
          <a:blip r:embed="rId3"/>
          <a:stretch>
            <a:fillRect/>
          </a:stretch>
        </p:blipFill>
        <p:spPr>
          <a:xfrm>
            <a:off x="7853050" y="2563187"/>
            <a:ext cx="2519982" cy="3418972"/>
          </a:xfrm>
          <a:prstGeom prst="rect">
            <a:avLst/>
          </a:prstGeom>
        </p:spPr>
      </p:pic>
      <p:pic>
        <p:nvPicPr>
          <p:cNvPr id="8" name="Picture 7">
            <a:extLst>
              <a:ext uri="{FF2B5EF4-FFF2-40B4-BE49-F238E27FC236}">
                <a16:creationId xmlns:a16="http://schemas.microsoft.com/office/drawing/2014/main" id="{32B684D8-0A45-48A7-4D4F-078312908C97}"/>
              </a:ext>
            </a:extLst>
          </p:cNvPr>
          <p:cNvPicPr>
            <a:picLocks noChangeAspect="1"/>
          </p:cNvPicPr>
          <p:nvPr/>
        </p:nvPicPr>
        <p:blipFill>
          <a:blip r:embed="rId4"/>
          <a:stretch>
            <a:fillRect/>
          </a:stretch>
        </p:blipFill>
        <p:spPr>
          <a:xfrm>
            <a:off x="923224" y="2577849"/>
            <a:ext cx="3657310" cy="1944989"/>
          </a:xfrm>
          <a:prstGeom prst="rect">
            <a:avLst/>
          </a:prstGeom>
        </p:spPr>
      </p:pic>
    </p:spTree>
    <p:extLst>
      <p:ext uri="{BB962C8B-B14F-4D97-AF65-F5344CB8AC3E}">
        <p14:creationId xmlns:p14="http://schemas.microsoft.com/office/powerpoint/2010/main" val="628572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BA8FE-CB01-7F6A-3DE2-6D9EE94D7A36}"/>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Conclusion (Key Findings Overall)</a:t>
            </a:r>
          </a:p>
        </p:txBody>
      </p:sp>
      <p:sp>
        <p:nvSpPr>
          <p:cNvPr id="4" name="Rectangle 1">
            <a:extLst>
              <a:ext uri="{FF2B5EF4-FFF2-40B4-BE49-F238E27FC236}">
                <a16:creationId xmlns:a16="http://schemas.microsoft.com/office/drawing/2014/main" id="{809FB8F2-5BAC-86DB-B649-F973D12CB597}"/>
              </a:ext>
            </a:extLst>
          </p:cNvPr>
          <p:cNvSpPr>
            <a:spLocks noGrp="1" noChangeArrowheads="1"/>
          </p:cNvSpPr>
          <p:nvPr>
            <p:ph type="body" idx="1"/>
          </p:nvPr>
        </p:nvSpPr>
        <p:spPr bwMode="auto">
          <a:xfrm>
            <a:off x="661220" y="1644522"/>
            <a:ext cx="979627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eaLnBrk="0" fontAlgn="base" hangingPunct="0">
              <a:lnSpc>
                <a:spcPct val="10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organization shows strong salary allocation towards strategic departments.</a:t>
            </a:r>
          </a:p>
          <a:p>
            <a:pPr marL="342900" eaLnBrk="0" fontAlgn="base" hangingPunct="0">
              <a:lnSpc>
                <a:spcPct val="10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Certain departments demonstrate high leave usage, which could affect productivity.</a:t>
            </a:r>
          </a:p>
          <a:p>
            <a:pPr marL="342900" eaLnBrk="0" fontAlgn="base" hangingPunct="0">
              <a:lnSpc>
                <a:spcPct val="10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Qualification-rich roles correlate with higher salaries, emphasizing the value of upskilling.</a:t>
            </a:r>
          </a:p>
        </p:txBody>
      </p:sp>
    </p:spTree>
    <p:extLst>
      <p:ext uri="{BB962C8B-B14F-4D97-AF65-F5344CB8AC3E}">
        <p14:creationId xmlns:p14="http://schemas.microsoft.com/office/powerpoint/2010/main" val="1513494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935</TotalTime>
  <Words>450</Words>
  <Application>Microsoft Office PowerPoint</Application>
  <PresentationFormat>Widescreen</PresentationFormat>
  <Paragraphs>89</Paragraphs>
  <Slides>25</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Times New Roman</vt:lpstr>
      <vt:lpstr>Libre Baskerville</vt:lpstr>
      <vt:lpstr>Calibri</vt:lpstr>
      <vt:lpstr>Office Theme</vt:lpstr>
      <vt:lpstr>PowerPoint Presentation</vt:lpstr>
      <vt:lpstr>Agenda (This should be the PPT flow)  </vt:lpstr>
      <vt:lpstr>ER Diagram and Schema Explanation</vt:lpstr>
      <vt:lpstr>PowerPoint Presentation</vt:lpstr>
      <vt:lpstr>Key Analysis Questions</vt:lpstr>
      <vt:lpstr>How many unique employees are currently in the system?</vt:lpstr>
      <vt:lpstr>Which department have the highest number of employees?</vt:lpstr>
      <vt:lpstr>What is the average salary per department?</vt:lpstr>
      <vt:lpstr>Who are the top 5 highest-paid employees?</vt:lpstr>
      <vt:lpstr>What is the total salary expenditure across the company?</vt:lpstr>
      <vt:lpstr>2. JOB ROLE AND DEPARTMENT ANALYSIS How many different job roles exist in  each department?</vt:lpstr>
      <vt:lpstr>What is the average salary range per department?</vt:lpstr>
      <vt:lpstr>Which job roles offer the highest salary?</vt:lpstr>
      <vt:lpstr>Which department have the highest total salary allocation?</vt:lpstr>
      <vt:lpstr>3. QUALIFICATION AND SKILLS ANALYSIS How many employees have at least one qualification listed?</vt:lpstr>
      <vt:lpstr>Which positions require the most qualifications?</vt:lpstr>
      <vt:lpstr>Which employees have the highest number of qualifications?</vt:lpstr>
      <vt:lpstr>4. LEAVE AND ABSENCE PATTERNS Which year had the most employees taking leaves?</vt:lpstr>
      <vt:lpstr>What is the average number of leave days taken by its employees per department?</vt:lpstr>
      <vt:lpstr>Which employees have taken the most leaves?</vt:lpstr>
      <vt:lpstr>What is the total number of leave days taken company-wide?</vt:lpstr>
      <vt:lpstr> How do leave days correlate with payroll amounts?</vt:lpstr>
      <vt:lpstr>Which year had the highest number of employee promotions?</vt:lpstr>
      <vt:lpstr>Conclusion (Key Findings Overall)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Manchala Jahnavi</cp:lastModifiedBy>
  <cp:revision>81</cp:revision>
  <dcterms:created xsi:type="dcterms:W3CDTF">2021-02-16T05:19:01Z</dcterms:created>
  <dcterms:modified xsi:type="dcterms:W3CDTF">2025-11-08T10:20:32Z</dcterms:modified>
</cp:coreProperties>
</file>